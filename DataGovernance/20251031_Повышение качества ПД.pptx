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308" r:id="rId1"/>
  </p:sldMasterIdLst>
  <p:notesMasterIdLst>
    <p:notesMasterId r:id="rId23"/>
  </p:notesMasterIdLst>
  <p:handoutMasterIdLst>
    <p:handoutMasterId r:id="rId24"/>
  </p:handoutMasterIdLst>
  <p:sldIdLst>
    <p:sldId id="2141411397" r:id="rId2"/>
    <p:sldId id="2141411529" r:id="rId3"/>
    <p:sldId id="2141411541" r:id="rId4"/>
    <p:sldId id="2141411453" r:id="rId5"/>
    <p:sldId id="2141411549" r:id="rId6"/>
    <p:sldId id="2141411551" r:id="rId7"/>
    <p:sldId id="2141411496" r:id="rId8"/>
    <p:sldId id="2141411531" r:id="rId9"/>
    <p:sldId id="2141411553" r:id="rId10"/>
    <p:sldId id="2141411556" r:id="rId11"/>
    <p:sldId id="2141411554" r:id="rId12"/>
    <p:sldId id="2141411555" r:id="rId13"/>
    <p:sldId id="2141411557" r:id="rId14"/>
    <p:sldId id="2141411544" r:id="rId15"/>
    <p:sldId id="2141411545" r:id="rId16"/>
    <p:sldId id="2141411542" r:id="rId17"/>
    <p:sldId id="2141411543" r:id="rId18"/>
    <p:sldId id="2141411537" r:id="rId19"/>
    <p:sldId id="2141411540" r:id="rId20"/>
    <p:sldId id="2141411456" r:id="rId21"/>
    <p:sldId id="2141411528" r:id="rId22"/>
  </p:sldIdLst>
  <p:sldSz cx="12192000" cy="6858000"/>
  <p:notesSz cx="9926638" cy="6797675"/>
  <p:defaultTextStyle>
    <a:defPPr>
      <a:defRPr lang="ru-RU"/>
    </a:defPPr>
    <a:lvl1pPr marL="0" algn="l" defTabSz="465659" rtl="0" eaLnBrk="1" latinLnBrk="0" hangingPunct="1">
      <a:defRPr sz="933" kern="1200">
        <a:solidFill>
          <a:schemeClr val="tx1"/>
        </a:solidFill>
        <a:latin typeface="+mn-lt"/>
        <a:ea typeface="+mn-ea"/>
        <a:cs typeface="+mn-cs"/>
      </a:defRPr>
    </a:lvl1pPr>
    <a:lvl2pPr marL="232829" algn="l" defTabSz="465659" rtl="0" eaLnBrk="1" latinLnBrk="0" hangingPunct="1">
      <a:defRPr sz="933" kern="1200">
        <a:solidFill>
          <a:schemeClr val="tx1"/>
        </a:solidFill>
        <a:latin typeface="+mn-lt"/>
        <a:ea typeface="+mn-ea"/>
        <a:cs typeface="+mn-cs"/>
      </a:defRPr>
    </a:lvl2pPr>
    <a:lvl3pPr marL="465659" algn="l" defTabSz="465659" rtl="0" eaLnBrk="1" latinLnBrk="0" hangingPunct="1">
      <a:defRPr sz="933" kern="1200">
        <a:solidFill>
          <a:schemeClr val="tx1"/>
        </a:solidFill>
        <a:latin typeface="+mn-lt"/>
        <a:ea typeface="+mn-ea"/>
        <a:cs typeface="+mn-cs"/>
      </a:defRPr>
    </a:lvl3pPr>
    <a:lvl4pPr marL="698488" algn="l" defTabSz="465659" rtl="0" eaLnBrk="1" latinLnBrk="0" hangingPunct="1">
      <a:defRPr sz="933" kern="1200">
        <a:solidFill>
          <a:schemeClr val="tx1"/>
        </a:solidFill>
        <a:latin typeface="+mn-lt"/>
        <a:ea typeface="+mn-ea"/>
        <a:cs typeface="+mn-cs"/>
      </a:defRPr>
    </a:lvl4pPr>
    <a:lvl5pPr marL="931318" algn="l" defTabSz="465659" rtl="0" eaLnBrk="1" latinLnBrk="0" hangingPunct="1">
      <a:defRPr sz="933" kern="1200">
        <a:solidFill>
          <a:schemeClr val="tx1"/>
        </a:solidFill>
        <a:latin typeface="+mn-lt"/>
        <a:ea typeface="+mn-ea"/>
        <a:cs typeface="+mn-cs"/>
      </a:defRPr>
    </a:lvl5pPr>
    <a:lvl6pPr marL="1164147" algn="l" defTabSz="465659" rtl="0" eaLnBrk="1" latinLnBrk="0" hangingPunct="1">
      <a:defRPr sz="933" kern="1200">
        <a:solidFill>
          <a:schemeClr val="tx1"/>
        </a:solidFill>
        <a:latin typeface="+mn-lt"/>
        <a:ea typeface="+mn-ea"/>
        <a:cs typeface="+mn-cs"/>
      </a:defRPr>
    </a:lvl6pPr>
    <a:lvl7pPr marL="1396977" algn="l" defTabSz="465659" rtl="0" eaLnBrk="1" latinLnBrk="0" hangingPunct="1">
      <a:defRPr sz="933" kern="1200">
        <a:solidFill>
          <a:schemeClr val="tx1"/>
        </a:solidFill>
        <a:latin typeface="+mn-lt"/>
        <a:ea typeface="+mn-ea"/>
        <a:cs typeface="+mn-cs"/>
      </a:defRPr>
    </a:lvl7pPr>
    <a:lvl8pPr marL="1629806" algn="l" defTabSz="465659" rtl="0" eaLnBrk="1" latinLnBrk="0" hangingPunct="1">
      <a:defRPr sz="933" kern="1200">
        <a:solidFill>
          <a:schemeClr val="tx1"/>
        </a:solidFill>
        <a:latin typeface="+mn-lt"/>
        <a:ea typeface="+mn-ea"/>
        <a:cs typeface="+mn-cs"/>
      </a:defRPr>
    </a:lvl8pPr>
    <a:lvl9pPr marL="1862633" algn="l" defTabSz="465659" rtl="0" eaLnBrk="1" latinLnBrk="0" hangingPunct="1">
      <a:defRPr sz="93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2" orient="horz" pos="829" userDrawn="1">
          <p15:clr>
            <a:srgbClr val="A4A3A4"/>
          </p15:clr>
        </p15:guide>
        <p15:guide id="14" orient="horz" pos="3279" userDrawn="1">
          <p15:clr>
            <a:srgbClr val="A4A3A4"/>
          </p15:clr>
        </p15:guide>
        <p15:guide id="15" orient="horz" pos="4187" userDrawn="1">
          <p15:clr>
            <a:srgbClr val="A4A3A4"/>
          </p15:clr>
        </p15:guide>
        <p15:guide id="16" pos="3689" userDrawn="1">
          <p15:clr>
            <a:srgbClr val="A4A3A4"/>
          </p15:clr>
        </p15:guide>
        <p15:guide id="17" pos="181" userDrawn="1">
          <p15:clr>
            <a:srgbClr val="A4A3A4"/>
          </p15:clr>
        </p15:guide>
        <p15:guide id="18" orient="horz" pos="1101" userDrawn="1">
          <p15:clr>
            <a:srgbClr val="A4A3A4"/>
          </p15:clr>
        </p15:guide>
        <p15:guide id="19" orient="horz" pos="1495" userDrawn="1">
          <p15:clr>
            <a:srgbClr val="A4A3A4"/>
          </p15:clr>
        </p15:guide>
        <p15:guide id="20" orient="horz" pos="1857" userDrawn="1">
          <p15:clr>
            <a:srgbClr val="A4A3A4"/>
          </p15:clr>
        </p15:guide>
        <p15:guide id="21" orient="horz" pos="2220" userDrawn="1">
          <p15:clr>
            <a:srgbClr val="A4A3A4"/>
          </p15:clr>
        </p15:guide>
        <p15:guide id="22" orient="horz" pos="2584" userDrawn="1">
          <p15:clr>
            <a:srgbClr val="A4A3A4"/>
          </p15:clr>
        </p15:guide>
        <p15:guide id="23" orient="horz" pos="2916" userDrawn="1">
          <p15:clr>
            <a:srgbClr val="A4A3A4"/>
          </p15:clr>
        </p15:guide>
        <p15:guide id="24" orient="horz" pos="3612" userDrawn="1">
          <p15:clr>
            <a:srgbClr val="A4A3A4"/>
          </p15:clr>
        </p15:guide>
        <p15:guide id="25" orient="horz" pos="3975" userDrawn="1">
          <p15:clr>
            <a:srgbClr val="A4A3A4"/>
          </p15:clr>
        </p15:guide>
        <p15:guide id="26" pos="40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/>
  <p:cmAuthor id="2" name="Буравцев Алексей Владимирович" initials="БАВ" lastIdx="3" clrIdx="1">
    <p:extLst>
      <p:ext uri="{19B8F6BF-5375-455C-9EA6-DF929625EA0E}">
        <p15:presenceInfo xmlns:p15="http://schemas.microsoft.com/office/powerpoint/2012/main" userId="S-1-5-21-317540661-3983239894-757911656-13513" providerId="AD"/>
      </p:ext>
    </p:extLst>
  </p:cmAuthor>
  <p:cmAuthor id="3" name="Алексей Буравцев" initials="АБ" lastIdx="2" clrIdx="2">
    <p:extLst>
      <p:ext uri="{19B8F6BF-5375-455C-9EA6-DF929625EA0E}">
        <p15:presenceInfo xmlns:p15="http://schemas.microsoft.com/office/powerpoint/2012/main" userId="15ad7c75d48b80e9" providerId="Windows Live"/>
      </p:ext>
    </p:extLst>
  </p:cmAuthor>
  <p:cmAuthor id="4" name="Шкуров Федор Вячеславович" initials="ШФВ" lastIdx="3" clrIdx="3">
    <p:extLst>
      <p:ext uri="{19B8F6BF-5375-455C-9EA6-DF929625EA0E}">
        <p15:presenceInfo xmlns:p15="http://schemas.microsoft.com/office/powerpoint/2012/main" userId="S-1-5-21-317540661-3983239894-757911656-13193" providerId="AD"/>
      </p:ext>
    </p:extLst>
  </p:cmAuthor>
  <p:cmAuthor id="5" name="Нечипасенко Елена Юрьевна" initials="НЕЮ" lastIdx="10" clrIdx="4">
    <p:extLst>
      <p:ext uri="{19B8F6BF-5375-455C-9EA6-DF929625EA0E}">
        <p15:presenceInfo xmlns:p15="http://schemas.microsoft.com/office/powerpoint/2012/main" userId="S-1-5-21-317540661-3983239894-757911656-135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5AD8"/>
    <a:srgbClr val="FF7900"/>
    <a:srgbClr val="00CC99"/>
    <a:srgbClr val="007AFF"/>
    <a:srgbClr val="ECF3FA"/>
    <a:srgbClr val="3C3C3B"/>
    <a:srgbClr val="009EDD"/>
    <a:srgbClr val="149CF6"/>
    <a:srgbClr val="4C4D4B"/>
    <a:srgbClr val="14AC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2485" autoAdjust="0"/>
  </p:normalViewPr>
  <p:slideViewPr>
    <p:cSldViewPr snapToGrid="0">
      <p:cViewPr varScale="1">
        <p:scale>
          <a:sx n="81" d="100"/>
          <a:sy n="81" d="100"/>
        </p:scale>
        <p:origin x="128" y="60"/>
      </p:cViewPr>
      <p:guideLst>
        <p:guide orient="horz" pos="829"/>
        <p:guide orient="horz" pos="3279"/>
        <p:guide orient="horz" pos="4187"/>
        <p:guide pos="3689"/>
        <p:guide pos="181"/>
        <p:guide orient="horz" pos="1101"/>
        <p:guide orient="horz" pos="1495"/>
        <p:guide orient="horz" pos="1857"/>
        <p:guide orient="horz" pos="2220"/>
        <p:guide orient="horz" pos="2584"/>
        <p:guide orient="horz" pos="2916"/>
        <p:guide orient="horz" pos="3612"/>
        <p:guide orient="horz" pos="3975"/>
        <p:guide pos="40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510"/>
    </p:cViewPr>
  </p:sorterViewPr>
  <p:notesViewPr>
    <p:cSldViewPr snapToGrid="0">
      <p:cViewPr varScale="1">
        <p:scale>
          <a:sx n="99" d="100"/>
          <a:sy n="99" d="100"/>
        </p:scale>
        <p:origin x="19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9" y="8"/>
            <a:ext cx="4301386" cy="340835"/>
          </a:xfrm>
          <a:prstGeom prst="rect">
            <a:avLst/>
          </a:prstGeom>
        </p:spPr>
        <p:txBody>
          <a:bodyPr vert="horz" lIns="86712" tIns="43355" rIns="86712" bIns="43355" rtlCol="0"/>
          <a:lstStyle>
            <a:lvl1pPr algn="l">
              <a:defRPr sz="10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091" y="8"/>
            <a:ext cx="4302971" cy="340835"/>
          </a:xfrm>
          <a:prstGeom prst="rect">
            <a:avLst/>
          </a:prstGeom>
        </p:spPr>
        <p:txBody>
          <a:bodyPr vert="horz" lIns="86712" tIns="43355" rIns="86712" bIns="43355" rtlCol="0"/>
          <a:lstStyle>
            <a:lvl1pPr algn="r">
              <a:defRPr sz="1000"/>
            </a:lvl1pPr>
          </a:lstStyle>
          <a:p>
            <a:fld id="{B14BF506-F78A-4E1F-A9DE-6AC03BB48BAE}" type="datetimeFigureOut">
              <a:rPr lang="ru-RU" smtClean="0"/>
              <a:t>08.08.2026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9" y="6456842"/>
            <a:ext cx="4301386" cy="340835"/>
          </a:xfrm>
          <a:prstGeom prst="rect">
            <a:avLst/>
          </a:prstGeom>
        </p:spPr>
        <p:txBody>
          <a:bodyPr vert="horz" lIns="86712" tIns="43355" rIns="86712" bIns="43355" rtlCol="0" anchor="b"/>
          <a:lstStyle>
            <a:lvl1pPr algn="l">
              <a:defRPr sz="10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091" y="6456842"/>
            <a:ext cx="4302971" cy="340835"/>
          </a:xfrm>
          <a:prstGeom prst="rect">
            <a:avLst/>
          </a:prstGeom>
        </p:spPr>
        <p:txBody>
          <a:bodyPr vert="horz" lIns="86712" tIns="43355" rIns="86712" bIns="43355" rtlCol="0" anchor="b"/>
          <a:lstStyle>
            <a:lvl1pPr algn="r">
              <a:defRPr sz="1000"/>
            </a:lvl1pPr>
          </a:lstStyle>
          <a:p>
            <a:fld id="{3B91BF07-7441-4B8C-B3B5-D7726D37A11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57221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2" y="4"/>
            <a:ext cx="4301753" cy="340646"/>
          </a:xfrm>
          <a:prstGeom prst="rect">
            <a:avLst/>
          </a:prstGeom>
        </p:spPr>
        <p:txBody>
          <a:bodyPr vert="horz" lIns="46225" tIns="23113" rIns="46225" bIns="23113" rtlCol="0"/>
          <a:lstStyle>
            <a:lvl1pPr algn="l">
              <a:defRPr sz="5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543" y="4"/>
            <a:ext cx="4301753" cy="340646"/>
          </a:xfrm>
          <a:prstGeom prst="rect">
            <a:avLst/>
          </a:prstGeom>
        </p:spPr>
        <p:txBody>
          <a:bodyPr vert="horz" lIns="46225" tIns="23113" rIns="46225" bIns="23113" rtlCol="0"/>
          <a:lstStyle>
            <a:lvl1pPr algn="r">
              <a:defRPr sz="500"/>
            </a:lvl1pPr>
          </a:lstStyle>
          <a:p>
            <a:fld id="{D63B7CCF-0311-44C0-B04E-3BEADBC90B6F}" type="datetimeFigureOut">
              <a:rPr lang="ru-RU" smtClean="0"/>
              <a:t>08.08.2026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6225" tIns="23113" rIns="46225" bIns="23113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356" y="3270984"/>
            <a:ext cx="7941938" cy="2677469"/>
          </a:xfrm>
          <a:prstGeom prst="rect">
            <a:avLst/>
          </a:prstGeom>
        </p:spPr>
        <p:txBody>
          <a:bodyPr vert="horz" lIns="46225" tIns="23113" rIns="46225" bIns="23113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2" y="6457037"/>
            <a:ext cx="4301753" cy="340646"/>
          </a:xfrm>
          <a:prstGeom prst="rect">
            <a:avLst/>
          </a:prstGeom>
        </p:spPr>
        <p:txBody>
          <a:bodyPr vert="horz" lIns="46225" tIns="23113" rIns="46225" bIns="23113" rtlCol="0" anchor="b"/>
          <a:lstStyle>
            <a:lvl1pPr algn="l">
              <a:defRPr sz="5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543" y="6457037"/>
            <a:ext cx="4301753" cy="340646"/>
          </a:xfrm>
          <a:prstGeom prst="rect">
            <a:avLst/>
          </a:prstGeom>
        </p:spPr>
        <p:txBody>
          <a:bodyPr vert="horz" lIns="46225" tIns="23113" rIns="46225" bIns="23113" rtlCol="0" anchor="b"/>
          <a:lstStyle>
            <a:lvl1pPr algn="r">
              <a:defRPr sz="500"/>
            </a:lvl1pPr>
          </a:lstStyle>
          <a:p>
            <a:fld id="{848594CB-4B43-4AC5-AEFA-8E4D634FEB6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92131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65659" rtl="0" eaLnBrk="1" latinLnBrk="0" hangingPunct="1">
      <a:defRPr sz="667" kern="1200">
        <a:solidFill>
          <a:schemeClr val="tx1"/>
        </a:solidFill>
        <a:latin typeface="+mn-lt"/>
        <a:ea typeface="+mn-ea"/>
        <a:cs typeface="+mn-cs"/>
      </a:defRPr>
    </a:lvl1pPr>
    <a:lvl2pPr marL="232829" algn="l" defTabSz="465659" rtl="0" eaLnBrk="1" latinLnBrk="0" hangingPunct="1">
      <a:defRPr sz="667" kern="1200">
        <a:solidFill>
          <a:schemeClr val="tx1"/>
        </a:solidFill>
        <a:latin typeface="+mn-lt"/>
        <a:ea typeface="+mn-ea"/>
        <a:cs typeface="+mn-cs"/>
      </a:defRPr>
    </a:lvl2pPr>
    <a:lvl3pPr marL="465659" algn="l" defTabSz="465659" rtl="0" eaLnBrk="1" latinLnBrk="0" hangingPunct="1">
      <a:defRPr sz="667" kern="1200">
        <a:solidFill>
          <a:schemeClr val="tx1"/>
        </a:solidFill>
        <a:latin typeface="+mn-lt"/>
        <a:ea typeface="+mn-ea"/>
        <a:cs typeface="+mn-cs"/>
      </a:defRPr>
    </a:lvl3pPr>
    <a:lvl4pPr marL="698488" algn="l" defTabSz="465659" rtl="0" eaLnBrk="1" latinLnBrk="0" hangingPunct="1">
      <a:defRPr sz="667" kern="1200">
        <a:solidFill>
          <a:schemeClr val="tx1"/>
        </a:solidFill>
        <a:latin typeface="+mn-lt"/>
        <a:ea typeface="+mn-ea"/>
        <a:cs typeface="+mn-cs"/>
      </a:defRPr>
    </a:lvl4pPr>
    <a:lvl5pPr marL="931318" algn="l" defTabSz="465659" rtl="0" eaLnBrk="1" latinLnBrk="0" hangingPunct="1">
      <a:defRPr sz="667" kern="1200">
        <a:solidFill>
          <a:schemeClr val="tx1"/>
        </a:solidFill>
        <a:latin typeface="+mn-lt"/>
        <a:ea typeface="+mn-ea"/>
        <a:cs typeface="+mn-cs"/>
      </a:defRPr>
    </a:lvl5pPr>
    <a:lvl6pPr marL="1164147" algn="l" defTabSz="465659" rtl="0" eaLnBrk="1" latinLnBrk="0" hangingPunct="1">
      <a:defRPr sz="667" kern="1200">
        <a:solidFill>
          <a:schemeClr val="tx1"/>
        </a:solidFill>
        <a:latin typeface="+mn-lt"/>
        <a:ea typeface="+mn-ea"/>
        <a:cs typeface="+mn-cs"/>
      </a:defRPr>
    </a:lvl6pPr>
    <a:lvl7pPr marL="1396977" algn="l" defTabSz="465659" rtl="0" eaLnBrk="1" latinLnBrk="0" hangingPunct="1">
      <a:defRPr sz="667" kern="1200">
        <a:solidFill>
          <a:schemeClr val="tx1"/>
        </a:solidFill>
        <a:latin typeface="+mn-lt"/>
        <a:ea typeface="+mn-ea"/>
        <a:cs typeface="+mn-cs"/>
      </a:defRPr>
    </a:lvl7pPr>
    <a:lvl8pPr marL="1629806" algn="l" defTabSz="465659" rtl="0" eaLnBrk="1" latinLnBrk="0" hangingPunct="1">
      <a:defRPr sz="667" kern="1200">
        <a:solidFill>
          <a:schemeClr val="tx1"/>
        </a:solidFill>
        <a:latin typeface="+mn-lt"/>
        <a:ea typeface="+mn-ea"/>
        <a:cs typeface="+mn-cs"/>
      </a:defRPr>
    </a:lvl8pPr>
    <a:lvl9pPr marL="1862633" algn="l" defTabSz="465659" rtl="0" eaLnBrk="1" latinLnBrk="0" hangingPunct="1">
      <a:defRPr sz="66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454025"/>
            <a:ext cx="5305425" cy="2984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FED875-7CA7-4683-B586-34E1A4A09D12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611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2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59512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3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35174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4613" y="636588"/>
            <a:ext cx="5664201" cy="318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4" name="Google Shape;1084;p1:notes"/>
          <p:cNvSpPr txBox="1">
            <a:spLocks noGrp="1"/>
          </p:cNvSpPr>
          <p:nvPr>
            <p:ph type="body" idx="1"/>
          </p:nvPr>
        </p:nvSpPr>
        <p:spPr>
          <a:xfrm>
            <a:off x="551480" y="4036120"/>
            <a:ext cx="4411839" cy="382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66" tIns="77766" rIns="77766" bIns="77766" anchor="t" anchorCtr="0">
            <a:noAutofit/>
          </a:bodyPr>
          <a:lstStyle/>
          <a:p>
            <a:pPr>
              <a:buSzPts val="11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1925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4613" y="636588"/>
            <a:ext cx="5664201" cy="318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4" name="Google Shape;1084;p1:notes"/>
          <p:cNvSpPr txBox="1">
            <a:spLocks noGrp="1"/>
          </p:cNvSpPr>
          <p:nvPr>
            <p:ph type="body" idx="1"/>
          </p:nvPr>
        </p:nvSpPr>
        <p:spPr>
          <a:xfrm>
            <a:off x="551480" y="4036120"/>
            <a:ext cx="4411839" cy="382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766" tIns="77766" rIns="77766" bIns="77766" anchor="t" anchorCtr="0">
            <a:noAutofit/>
          </a:bodyPr>
          <a:lstStyle/>
          <a:p>
            <a:pPr>
              <a:buSzPts val="11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9414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6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77747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Серым цветом</a:t>
            </a:r>
            <a:r>
              <a:rPr lang="ru-RU" baseline="0" dirty="0"/>
              <a:t> выделены отсутствующие в настоящее время документы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8594CB-4B43-4AC5-AEFA-8E4D634FEB6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031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8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95202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9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61065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10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75432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11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85434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12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93900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13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83971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14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52436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15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21431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16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603185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17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495126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18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26915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19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213079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0288" y="454025"/>
            <a:ext cx="5305425" cy="2984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FED875-7CA7-4683-B586-34E1A4A09D12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5894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376464">
              <a:defRPr/>
            </a:pPr>
            <a:fld id="{827532A2-DA06-744D-9B20-9C50BFCC3550}" type="slidenum">
              <a:rPr lang="en-US" sz="600">
                <a:solidFill>
                  <a:prstClr val="black"/>
                </a:solidFill>
                <a:latin typeface="Calibri" panose="020F0502020204030204"/>
              </a:rPr>
              <a:pPr defTabSz="376464">
                <a:defRPr/>
              </a:pPr>
              <a:t>21</a:t>
            </a:fld>
            <a:endParaRPr lang="en-US" sz="6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17352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CA335-37F7-42C7-872A-92C3D707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61571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CA335-37F7-42C7-872A-92C3D707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50789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CA335-37F7-42C7-872A-92C3D707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8115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CA335-37F7-42C7-872A-92C3D707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96003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CA335-37F7-42C7-872A-92C3D707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43077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CA335-37F7-42C7-872A-92C3D707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85760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CA335-37F7-42C7-872A-92C3D707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0456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CA335-37F7-42C7-872A-92C3D707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2231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CA335-37F7-42C7-872A-92C3D707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96642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1343EFD-40A5-3C4C-A787-54F8595E6E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865"/>
            <a:ext cx="12192000" cy="688172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DB76D84-B492-904F-9968-EE2EC96E42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729"/>
            <a:ext cx="12192000" cy="690545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1873A68-4A99-4F40-B66D-011EF0B606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729"/>
            <a:ext cx="12192000" cy="6905458"/>
          </a:xfrm>
          <a:prstGeom prst="rect">
            <a:avLst/>
          </a:prstGeom>
        </p:spPr>
      </p:pic>
      <p:sp>
        <p:nvSpPr>
          <p:cNvPr id="7" name="Подзаголовок 4">
            <a:extLst>
              <a:ext uri="{FF2B5EF4-FFF2-40B4-BE49-F238E27FC236}">
                <a16:creationId xmlns:a16="http://schemas.microsoft.com/office/drawing/2014/main" id="{27A5E589-E645-164D-81DE-498B2B73A314}"/>
              </a:ext>
            </a:extLst>
          </p:cNvPr>
          <p:cNvSpPr txBox="1">
            <a:spLocks/>
          </p:cNvSpPr>
          <p:nvPr userDrawn="1"/>
        </p:nvSpPr>
        <p:spPr>
          <a:xfrm>
            <a:off x="445177" y="6190643"/>
            <a:ext cx="2992967" cy="319886"/>
          </a:xfrm>
        </p:spPr>
        <p:txBody>
          <a:bodyPr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300" b="1" dirty="0" err="1">
                <a:solidFill>
                  <a:schemeClr val="bg1"/>
                </a:solidFill>
                <a:cs typeface="Arial" panose="020B0604020202020204" pitchFamily="34" charset="0"/>
              </a:rPr>
              <a:t>kadastr.ru</a:t>
            </a:r>
            <a:endParaRPr lang="ru-RU" sz="1300" b="1" dirty="0"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EB6F8AB-6CE7-F840-95B9-F5BE5DEC91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77" y="432815"/>
            <a:ext cx="2693349" cy="41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5724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63032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C1BAB3E4-8CDB-4F6A-B3E4-6E0AAEA08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43949" y="6334128"/>
            <a:ext cx="2743200" cy="365125"/>
          </a:xfrm>
        </p:spPr>
        <p:txBody>
          <a:bodyPr/>
          <a:lstStyle>
            <a:lvl1pPr>
              <a:defRPr sz="1467" b="1">
                <a:solidFill>
                  <a:schemeClr val="bg1"/>
                </a:solidFill>
              </a:defRPr>
            </a:lvl1pPr>
          </a:lstStyle>
          <a:p>
            <a:fld id="{35ACA335-37F7-42C7-872A-92C3D7072F8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5309A1-1DFE-4448-9E97-68A9703F84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7378" y="4114804"/>
            <a:ext cx="10899775" cy="2219325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874E77-39A5-7646-BC50-C27C7DAF8E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C004B75-4F1C-9047-85F7-45599CD0161A}"/>
              </a:ext>
            </a:extLst>
          </p:cNvPr>
          <p:cNvCxnSpPr>
            <a:cxnSpLocks/>
          </p:cNvCxnSpPr>
          <p:nvPr userDrawn="1"/>
        </p:nvCxnSpPr>
        <p:spPr>
          <a:xfrm>
            <a:off x="403537" y="838214"/>
            <a:ext cx="1138492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FCB50F-E6FB-5144-8172-0B385804A6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9632"/>
            <a:ext cx="12192000" cy="32836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34FAA6-776C-2141-BDB9-3E705E88A3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36" y="188367"/>
            <a:ext cx="110348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06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656">
          <p15:clr>
            <a:srgbClr val="FBAE40"/>
          </p15:clr>
        </p15:guide>
        <p15:guide id="2" pos="796">
          <p15:clr>
            <a:srgbClr val="FBAE40"/>
          </p15:clr>
        </p15:guide>
        <p15:guide id="3" pos="37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F507DA7-A609-3C4B-ADE0-3195CDC348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44164"/>
            <a:ext cx="12192000" cy="32836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5309A1-1DFE-4448-9E97-68A9703F84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7378" y="4114804"/>
            <a:ext cx="10899775" cy="2219325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endParaRPr lang="ru-RU" dirty="0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C1BAB3E4-8CDB-4F6A-B3E4-6E0AAEA08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487149"/>
            <a:ext cx="2743200" cy="365125"/>
          </a:xfrm>
        </p:spPr>
        <p:txBody>
          <a:bodyPr/>
          <a:lstStyle>
            <a:lvl1pPr>
              <a:defRPr sz="1200" b="1">
                <a:solidFill>
                  <a:schemeClr val="bg1"/>
                </a:solidFill>
              </a:defRPr>
            </a:lvl1pPr>
          </a:lstStyle>
          <a:p>
            <a:fld id="{35ACA335-37F7-42C7-872A-92C3D7072F89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3A9F430-D57C-2249-9965-B23C1AA8958A}"/>
              </a:ext>
            </a:extLst>
          </p:cNvPr>
          <p:cNvCxnSpPr>
            <a:cxnSpLocks/>
          </p:cNvCxnSpPr>
          <p:nvPr userDrawn="1"/>
        </p:nvCxnSpPr>
        <p:spPr>
          <a:xfrm>
            <a:off x="403537" y="838214"/>
            <a:ext cx="1138492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703CDA-0466-0546-8FFC-A474ED10FD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36" y="188367"/>
            <a:ext cx="1095652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20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656">
          <p15:clr>
            <a:srgbClr val="FBAE40"/>
          </p15:clr>
        </p15:guide>
        <p15:guide id="2" pos="796">
          <p15:clr>
            <a:srgbClr val="FBAE40"/>
          </p15:clr>
        </p15:guide>
        <p15:guide id="3" pos="37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C1BAB3E4-8CDB-4F6A-B3E4-6E0AAEA08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43949" y="6334128"/>
            <a:ext cx="2743200" cy="365125"/>
          </a:xfrm>
        </p:spPr>
        <p:txBody>
          <a:bodyPr/>
          <a:lstStyle>
            <a:lvl1pPr>
              <a:defRPr sz="1467" b="1">
                <a:solidFill>
                  <a:schemeClr val="bg1"/>
                </a:solidFill>
              </a:defRPr>
            </a:lvl1pPr>
          </a:lstStyle>
          <a:p>
            <a:fld id="{35ACA335-37F7-42C7-872A-92C3D7072F8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5309A1-1DFE-4448-9E97-68A9703F84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7378" y="4114804"/>
            <a:ext cx="10899775" cy="2219325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B54ADF-AB0B-584E-A245-F241D489DC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44164"/>
            <a:ext cx="12192000" cy="328368"/>
          </a:xfrm>
          <a:prstGeom prst="rect">
            <a:avLst/>
          </a:prstGeom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2CA7866-EF07-0040-8495-078819396D11}"/>
              </a:ext>
            </a:extLst>
          </p:cNvPr>
          <p:cNvCxnSpPr>
            <a:cxnSpLocks/>
          </p:cNvCxnSpPr>
          <p:nvPr userDrawn="1"/>
        </p:nvCxnSpPr>
        <p:spPr>
          <a:xfrm>
            <a:off x="403537" y="838214"/>
            <a:ext cx="1138492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026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656">
          <p15:clr>
            <a:srgbClr val="FBAE40"/>
          </p15:clr>
        </p15:guide>
        <p15:guide id="2" pos="796">
          <p15:clr>
            <a:srgbClr val="FBAE40"/>
          </p15:clr>
        </p15:guide>
        <p15:guide id="3" pos="37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C1BAB3E4-8CDB-4F6A-B3E4-6E0AAEA08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43949" y="6334128"/>
            <a:ext cx="2743200" cy="365125"/>
          </a:xfrm>
        </p:spPr>
        <p:txBody>
          <a:bodyPr/>
          <a:lstStyle>
            <a:lvl1pPr>
              <a:defRPr sz="1467" b="1">
                <a:solidFill>
                  <a:schemeClr val="bg1"/>
                </a:solidFill>
              </a:defRPr>
            </a:lvl1pPr>
          </a:lstStyle>
          <a:p>
            <a:fld id="{35ACA335-37F7-42C7-872A-92C3D7072F8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5309A1-1DFE-4448-9E97-68A9703F84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7378" y="4114804"/>
            <a:ext cx="10899775" cy="2219325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422EF6-3F75-6D40-9B20-66CEAC7C46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44164"/>
            <a:ext cx="12192000" cy="328368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2FBCEC2-D211-0446-BEC0-3F5CCA8A41C6}"/>
              </a:ext>
            </a:extLst>
          </p:cNvPr>
          <p:cNvCxnSpPr>
            <a:cxnSpLocks/>
          </p:cNvCxnSpPr>
          <p:nvPr userDrawn="1"/>
        </p:nvCxnSpPr>
        <p:spPr>
          <a:xfrm>
            <a:off x="403537" y="838214"/>
            <a:ext cx="1138492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821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656" userDrawn="1">
          <p15:clr>
            <a:srgbClr val="FBAE40"/>
          </p15:clr>
        </p15:guide>
        <p15:guide id="2" pos="796" userDrawn="1">
          <p15:clr>
            <a:srgbClr val="FBAE40"/>
          </p15:clr>
        </p15:guide>
        <p15:guide id="3" pos="37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C1BAB3E4-8CDB-4F6A-B3E4-6E0AAEA08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43949" y="6334128"/>
            <a:ext cx="2743200" cy="365125"/>
          </a:xfrm>
        </p:spPr>
        <p:txBody>
          <a:bodyPr/>
          <a:lstStyle>
            <a:lvl1pPr>
              <a:defRPr sz="1467" b="1">
                <a:solidFill>
                  <a:schemeClr val="bg1"/>
                </a:solidFill>
              </a:defRPr>
            </a:lvl1pPr>
          </a:lstStyle>
          <a:p>
            <a:fld id="{35ACA335-37F7-42C7-872A-92C3D7072F8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5309A1-1DFE-4448-9E97-68A9703F84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7378" y="4114804"/>
            <a:ext cx="10899775" cy="2219325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288A41-34FD-3849-95C6-96105282BC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44164"/>
            <a:ext cx="12192000" cy="328368"/>
          </a:xfrm>
          <a:prstGeom prst="rect">
            <a:avLst/>
          </a:prstGeom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732146D1-95AE-2749-A7A6-47D669893644}"/>
              </a:ext>
            </a:extLst>
          </p:cNvPr>
          <p:cNvCxnSpPr>
            <a:cxnSpLocks/>
          </p:cNvCxnSpPr>
          <p:nvPr userDrawn="1"/>
        </p:nvCxnSpPr>
        <p:spPr>
          <a:xfrm>
            <a:off x="403537" y="838214"/>
            <a:ext cx="1138492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85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656" userDrawn="1">
          <p15:clr>
            <a:srgbClr val="FBAE40"/>
          </p15:clr>
        </p15:guide>
        <p15:guide id="2" pos="796" userDrawn="1">
          <p15:clr>
            <a:srgbClr val="FBAE40"/>
          </p15:clr>
        </p15:guide>
        <p15:guide id="3" pos="37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B46DE59E-E569-4F2B-A446-DDECD0B3FE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13000" contrast="1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689"/>
          <a:stretch/>
        </p:blipFill>
        <p:spPr>
          <a:xfrm>
            <a:off x="-1" y="6089269"/>
            <a:ext cx="12192001" cy="76873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4C4F42-3DD4-50FF-2B51-33B21ED4556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93" b="82953"/>
          <a:stretch/>
        </p:blipFill>
        <p:spPr>
          <a:xfrm>
            <a:off x="4408528" y="5844688"/>
            <a:ext cx="7783472" cy="1013309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C1BAB3E4-8CDB-4F6A-B3E4-6E0AAEA08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492872"/>
            <a:ext cx="2743200" cy="365125"/>
          </a:xfrm>
          <a:effectLst/>
        </p:spPr>
        <p:txBody>
          <a:bodyPr/>
          <a:lstStyle>
            <a:lvl1pPr>
              <a:defRPr sz="1467" b="1">
                <a:solidFill>
                  <a:schemeClr val="bg2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</a:defRPr>
            </a:lvl1pPr>
          </a:lstStyle>
          <a:p>
            <a:fld id="{2AEBC476-9252-C343-9FCE-489A77E2EA6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651BF2-C6BE-42E0-B646-8F3DC2D7D273}"/>
              </a:ext>
            </a:extLst>
          </p:cNvPr>
          <p:cNvSpPr/>
          <p:nvPr/>
        </p:nvSpPr>
        <p:spPr>
          <a:xfrm>
            <a:off x="0" y="3"/>
            <a:ext cx="12192000" cy="82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38100" dir="5400000" algn="t" rotWithShape="0">
              <a:schemeClr val="tx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5" tIns="60957" rIns="121915" bIns="60957" rtlCol="0" anchor="ctr"/>
          <a:lstStyle/>
          <a:p>
            <a:pPr algn="ctr"/>
            <a:endParaRPr lang="ru-RU" sz="667" dirty="0"/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74242212-74B6-428E-A4FD-D6259025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9"/>
            <a:ext cx="10534651" cy="838199"/>
          </a:xfrm>
        </p:spPr>
        <p:txBody>
          <a:bodyPr anchor="ctr">
            <a:normAutofit/>
          </a:bodyPr>
          <a:lstStyle>
            <a:lvl1pPr>
              <a:tabLst>
                <a:tab pos="1079473" algn="l"/>
              </a:tabLst>
              <a:defRPr sz="2400" b="1">
                <a:solidFill>
                  <a:schemeClr val="tx2"/>
                </a:solidFill>
              </a:defRPr>
            </a:lvl1pPr>
          </a:lstStyle>
          <a:p>
            <a:pPr>
              <a:tabLst>
                <a:tab pos="809625" algn="l"/>
              </a:tabLst>
            </a:pPr>
            <a:r>
              <a:rPr lang="en-US"/>
              <a:t>Click to edit Master title style</a:t>
            </a:r>
            <a:endParaRPr lang="ru-RU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163839C3-CA6F-5CAF-EE73-3A29718315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8390"/>
          <a:stretch/>
        </p:blipFill>
        <p:spPr>
          <a:xfrm>
            <a:off x="175392" y="143263"/>
            <a:ext cx="611247" cy="55168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934174-04ED-DD40-6C12-A9ABA3B0E93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6" b="88978"/>
          <a:stretch/>
        </p:blipFill>
        <p:spPr>
          <a:xfrm>
            <a:off x="1" y="6219829"/>
            <a:ext cx="7011051" cy="65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81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  <p15:guide id="2" pos="597">
          <p15:clr>
            <a:srgbClr val="FBAE40"/>
          </p15:clr>
        </p15:guide>
        <p15:guide id="3" pos="27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CA335-37F7-42C7-872A-92C3D7072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50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  <p:sldLayoutId id="2147484337" r:id="rId12"/>
    <p:sldLayoutId id="2147484335" r:id="rId13"/>
    <p:sldLayoutId id="2147484336" r:id="rId14"/>
    <p:sldLayoutId id="2147484306" r:id="rId15"/>
    <p:sldLayoutId id="2147484307" r:id="rId16"/>
    <p:sldLayoutId id="214748433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957" y="1595"/>
          <a:ext cx="1955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7" y="1595"/>
                        <a:ext cx="1955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одзаголовок 4">
            <a:extLst>
              <a:ext uri="{FF2B5EF4-FFF2-40B4-BE49-F238E27FC236}">
                <a16:creationId xmlns:a16="http://schemas.microsoft.com/office/drawing/2014/main" id="{6606CED7-1700-A14B-9EC7-E137772CA85D}"/>
              </a:ext>
            </a:extLst>
          </p:cNvPr>
          <p:cNvSpPr txBox="1">
            <a:spLocks/>
          </p:cNvSpPr>
          <p:nvPr/>
        </p:nvSpPr>
        <p:spPr>
          <a:xfrm>
            <a:off x="458037" y="1080714"/>
            <a:ext cx="6004291" cy="3412047"/>
          </a:xfrm>
        </p:spPr>
        <p:txBody>
          <a:bodyPr lIns="65273" tIns="32641" rIns="65273" bIns="3264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6" name="Подзаголовок 4">
            <a:extLst>
              <a:ext uri="{FF2B5EF4-FFF2-40B4-BE49-F238E27FC236}">
                <a16:creationId xmlns:a16="http://schemas.microsoft.com/office/drawing/2014/main" id="{6606CED7-1700-A14B-9EC7-E137772CA85D}"/>
              </a:ext>
            </a:extLst>
          </p:cNvPr>
          <p:cNvSpPr txBox="1">
            <a:spLocks/>
          </p:cNvSpPr>
          <p:nvPr/>
        </p:nvSpPr>
        <p:spPr>
          <a:xfrm>
            <a:off x="384217" y="1935804"/>
            <a:ext cx="4986569" cy="2846961"/>
          </a:xfrm>
        </p:spPr>
        <p:txBody>
          <a:bodyPr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cs typeface="Arial" panose="020B0604020202020204" pitchFamily="34" charset="0"/>
              </a:rPr>
              <a:t>Создание и развитие системы управления пространственными данными в государственных информационных системах — поставщиков информации во ФГИС ЕЦП НСПД</a:t>
            </a:r>
          </a:p>
          <a:p>
            <a:r>
              <a:rPr lang="ru-RU" sz="1200" dirty="0">
                <a:cs typeface="Arial" panose="020B0604020202020204" pitchFamily="34" charset="0"/>
              </a:rPr>
              <a:t>__________________________________________________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B061993-57EB-FE42-8C67-90347FB5AE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070" y="2076677"/>
            <a:ext cx="2562953" cy="2758433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EC3AF7E-D33F-4444-97CA-FB399159DCA0}"/>
              </a:ext>
            </a:extLst>
          </p:cNvPr>
          <p:cNvSpPr/>
          <p:nvPr/>
        </p:nvSpPr>
        <p:spPr>
          <a:xfrm>
            <a:off x="292123" y="4422490"/>
            <a:ext cx="7084963" cy="360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1342" tIns="75448" rIns="151342" bIns="75448" anchor="t">
            <a:noAutofit/>
          </a:bodyPr>
          <a:lstStyle/>
          <a:p>
            <a:pPr>
              <a:lnSpc>
                <a:spcPct val="90000"/>
              </a:lnSpc>
              <a:spcBef>
                <a:spcPts val="931"/>
              </a:spcBef>
              <a:tabLst>
                <a:tab pos="0" algn="l"/>
              </a:tabLst>
            </a:pPr>
            <a:r>
              <a:rPr lang="ru-RU" sz="1600" spc="-1" dirty="0">
                <a:solidFill>
                  <a:srgbClr val="FFFFFF"/>
                </a:solidFill>
                <a:latin typeface="Arial"/>
                <a:ea typeface="DejaVu Sans"/>
              </a:rPr>
              <a:t>Ноябрь 2025</a:t>
            </a:r>
          </a:p>
          <a:p>
            <a:pPr>
              <a:lnSpc>
                <a:spcPct val="90000"/>
              </a:lnSpc>
              <a:spcBef>
                <a:spcPts val="931"/>
              </a:spcBef>
              <a:tabLst>
                <a:tab pos="0" algn="l"/>
              </a:tabLst>
            </a:pPr>
            <a:endParaRPr lang="ru-RU" sz="1600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931"/>
              </a:spcBef>
              <a:tabLst>
                <a:tab pos="0" algn="l"/>
              </a:tabLst>
            </a:pPr>
            <a:endParaRPr lang="ru-RU" sz="1600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931"/>
              </a:spcBef>
              <a:tabLst>
                <a:tab pos="0" algn="l"/>
              </a:tabLst>
            </a:pPr>
            <a:r>
              <a:rPr lang="ru-RU" sz="1600" spc="-1" dirty="0">
                <a:solidFill>
                  <a:srgbClr val="FFFFFF"/>
                </a:solidFill>
                <a:latin typeface="Arial"/>
              </a:rPr>
              <a:t>Буравцев Алексей Владимирович</a:t>
            </a:r>
          </a:p>
          <a:p>
            <a:pPr>
              <a:lnSpc>
                <a:spcPct val="90000"/>
              </a:lnSpc>
              <a:spcBef>
                <a:spcPts val="931"/>
              </a:spcBef>
              <a:tabLst>
                <a:tab pos="0" algn="l"/>
              </a:tabLst>
            </a:pPr>
            <a:r>
              <a:rPr lang="ru-RU" sz="1600" spc="-1" dirty="0">
                <a:solidFill>
                  <a:srgbClr val="FFFFFF"/>
                </a:solidFill>
                <a:latin typeface="Arial"/>
              </a:rPr>
              <a:t>ППК «Роскадастр»</a:t>
            </a:r>
            <a:endParaRPr lang="ru-RU" sz="16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7863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3">
            <a:extLst>
              <a:ext uri="{FF2B5EF4-FFF2-40B4-BE49-F238E27FC236}">
                <a16:creationId xmlns:a16="http://schemas.microsoft.com/office/drawing/2014/main" id="{AAAD0C68-371B-4180-8FAD-1D1F90D6AAB9}"/>
              </a:ext>
            </a:extLst>
          </p:cNvPr>
          <p:cNvSpPr/>
          <p:nvPr/>
        </p:nvSpPr>
        <p:spPr>
          <a:xfrm>
            <a:off x="4275058" y="978439"/>
            <a:ext cx="3299807" cy="591820"/>
          </a:xfrm>
          <a:custGeom>
            <a:avLst/>
            <a:gdLst/>
            <a:ahLst/>
            <a:cxnLst/>
            <a:rect l="l" t="t" r="r" b="b"/>
            <a:pathLst>
              <a:path w="3432175" h="591819">
                <a:moveTo>
                  <a:pt x="3136392" y="0"/>
                </a:moveTo>
                <a:lnTo>
                  <a:pt x="295656" y="0"/>
                </a:lnTo>
                <a:lnTo>
                  <a:pt x="247699" y="3869"/>
                </a:lnTo>
                <a:lnTo>
                  <a:pt x="202206" y="15072"/>
                </a:lnTo>
                <a:lnTo>
                  <a:pt x="159786" y="33001"/>
                </a:lnTo>
                <a:lnTo>
                  <a:pt x="121046" y="57045"/>
                </a:lnTo>
                <a:lnTo>
                  <a:pt x="86596" y="86596"/>
                </a:lnTo>
                <a:lnTo>
                  <a:pt x="57045" y="121046"/>
                </a:lnTo>
                <a:lnTo>
                  <a:pt x="33001" y="159786"/>
                </a:lnTo>
                <a:lnTo>
                  <a:pt x="15072" y="202206"/>
                </a:lnTo>
                <a:lnTo>
                  <a:pt x="3869" y="247699"/>
                </a:lnTo>
                <a:lnTo>
                  <a:pt x="0" y="295655"/>
                </a:lnTo>
                <a:lnTo>
                  <a:pt x="3869" y="343612"/>
                </a:lnTo>
                <a:lnTo>
                  <a:pt x="15072" y="389105"/>
                </a:lnTo>
                <a:lnTo>
                  <a:pt x="33001" y="431525"/>
                </a:lnTo>
                <a:lnTo>
                  <a:pt x="57045" y="470265"/>
                </a:lnTo>
                <a:lnTo>
                  <a:pt x="86596" y="504715"/>
                </a:lnTo>
                <a:lnTo>
                  <a:pt x="121046" y="534266"/>
                </a:lnTo>
                <a:lnTo>
                  <a:pt x="159786" y="558310"/>
                </a:lnTo>
                <a:lnTo>
                  <a:pt x="202206" y="576239"/>
                </a:lnTo>
                <a:lnTo>
                  <a:pt x="247699" y="587442"/>
                </a:lnTo>
                <a:lnTo>
                  <a:pt x="295656" y="591311"/>
                </a:lnTo>
                <a:lnTo>
                  <a:pt x="3136392" y="591311"/>
                </a:lnTo>
                <a:lnTo>
                  <a:pt x="3184348" y="587442"/>
                </a:lnTo>
                <a:lnTo>
                  <a:pt x="3229841" y="576239"/>
                </a:lnTo>
                <a:lnTo>
                  <a:pt x="3272261" y="558310"/>
                </a:lnTo>
                <a:lnTo>
                  <a:pt x="3311001" y="534266"/>
                </a:lnTo>
                <a:lnTo>
                  <a:pt x="3345451" y="504715"/>
                </a:lnTo>
                <a:lnTo>
                  <a:pt x="3375002" y="470265"/>
                </a:lnTo>
                <a:lnTo>
                  <a:pt x="3399046" y="431525"/>
                </a:lnTo>
                <a:lnTo>
                  <a:pt x="3416975" y="389105"/>
                </a:lnTo>
                <a:lnTo>
                  <a:pt x="3428178" y="343612"/>
                </a:lnTo>
                <a:lnTo>
                  <a:pt x="3432048" y="295655"/>
                </a:lnTo>
                <a:lnTo>
                  <a:pt x="3428178" y="247699"/>
                </a:lnTo>
                <a:lnTo>
                  <a:pt x="3416975" y="202206"/>
                </a:lnTo>
                <a:lnTo>
                  <a:pt x="3399046" y="159786"/>
                </a:lnTo>
                <a:lnTo>
                  <a:pt x="3375002" y="121046"/>
                </a:lnTo>
                <a:lnTo>
                  <a:pt x="3345451" y="86596"/>
                </a:lnTo>
                <a:lnTo>
                  <a:pt x="3311001" y="57045"/>
                </a:lnTo>
                <a:lnTo>
                  <a:pt x="3272261" y="33001"/>
                </a:lnTo>
                <a:lnTo>
                  <a:pt x="3229841" y="15072"/>
                </a:lnTo>
                <a:lnTo>
                  <a:pt x="3184348" y="3869"/>
                </a:lnTo>
                <a:lnTo>
                  <a:pt x="3136392" y="0"/>
                </a:lnTo>
                <a:close/>
              </a:path>
            </a:pathLst>
          </a:custGeom>
          <a:solidFill>
            <a:srgbClr val="008C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2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Проблемы и вызовы в сфере управления пространственными данными в организациях-поставщиках данных во ФГИС ЕЦП НСПД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D46F65-9F9F-4F20-B17B-480A9D72B321}"/>
              </a:ext>
            </a:extLst>
          </p:cNvPr>
          <p:cNvSpPr txBox="1"/>
          <p:nvPr/>
        </p:nvSpPr>
        <p:spPr>
          <a:xfrm>
            <a:off x="316461" y="1679234"/>
            <a:ext cx="1147200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Отсутствие согласованного единого видения целей, задач, принципов, ролей, функций, процессов, организационной структуры, ОРД и т.д. в части процессов управления пространственными данными (отсутствие политик по управлению данными)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Отсутствие документа, описывающего порядок действий и соответствующие им НТД (стандарты) в части управления ПД (отсутствие регламента по управлению данными)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Отсутствие в организациях необходимой организационной структуры и ролей для качественного управления ПД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Неполное применение в организациях необходимого перечня ОРД и НТД для обеспечения управления ПД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Уровень зрелости процессов управления ПД в организациях неизвестен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Отсутствие в организациях Дорожной карты по переходу из текущего состояния в целевое в части управления ПД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Недостаточно высокий уровень квалификации сотрудников организаций-поставщиков данных во ФГИС ЕЦП НСПД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Отсутствие процессов непрерывного мониторинга и повышения качества пространственных данных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Отсутствие базовых требований к ИС, ИР и наборам данных со стороны ФГИС ЕЦП НСПД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Проблема использования не гармонизированных классификаторов (задача решается в рамках ЕСКК НСПД)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/>
              <a:t>Отсутствие метаданных, проблемы с полнотой, актуальностью, точностью, достоверностью, доступностью ПД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1600" dirty="0"/>
          </a:p>
        </p:txBody>
      </p:sp>
      <p:sp>
        <p:nvSpPr>
          <p:cNvPr id="16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5187838" y="1099439"/>
            <a:ext cx="1411681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ВЫЗОВЫ</a:t>
            </a: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F978E0E4-4A18-4391-9C79-43F261FD43BB}"/>
              </a:ext>
            </a:extLst>
          </p:cNvPr>
          <p:cNvSpPr txBox="1"/>
          <p:nvPr/>
        </p:nvSpPr>
        <p:spPr>
          <a:xfrm>
            <a:off x="3459881" y="732060"/>
            <a:ext cx="40328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46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ВЫЗОВ</a:t>
            </a:r>
          </a:p>
        </p:txBody>
      </p:sp>
      <p:pic>
        <p:nvPicPr>
          <p:cNvPr id="22" name="Graphic 60">
            <a:extLst>
              <a:ext uri="{FF2B5EF4-FFF2-40B4-BE49-F238E27FC236}">
                <a16:creationId xmlns:a16="http://schemas.microsoft.com/office/drawing/2014/main" id="{6D4C1833-19EB-4E03-84AC-E444A2546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2184" y="1075682"/>
            <a:ext cx="388034" cy="38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42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3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Выводы</a:t>
            </a:r>
          </a:p>
        </p:txBody>
      </p:sp>
      <p:sp>
        <p:nvSpPr>
          <p:cNvPr id="13" name="Скругленный прямоугольник 2">
            <a:extLst>
              <a:ext uri="{FF2B5EF4-FFF2-40B4-BE49-F238E27FC236}">
                <a16:creationId xmlns:a16="http://schemas.microsoft.com/office/drawing/2014/main" id="{CC5D2123-0BAD-4BB2-8605-208641ECFF0B}"/>
              </a:ext>
            </a:extLst>
          </p:cNvPr>
          <p:cNvSpPr/>
          <p:nvPr/>
        </p:nvSpPr>
        <p:spPr>
          <a:xfrm>
            <a:off x="2126665" y="2218552"/>
            <a:ext cx="2339962" cy="145172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Отсутствие доверия к пространственным данным организаций-поставщиков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1">
            <a:extLst>
              <a:ext uri="{FF2B5EF4-FFF2-40B4-BE49-F238E27FC236}">
                <a16:creationId xmlns:a16="http://schemas.microsoft.com/office/drawing/2014/main" id="{F95B334A-9374-4A91-828D-746C59187E5B}"/>
              </a:ext>
            </a:extLst>
          </p:cNvPr>
          <p:cNvSpPr/>
          <p:nvPr/>
        </p:nvSpPr>
        <p:spPr>
          <a:xfrm>
            <a:off x="4965935" y="2218552"/>
            <a:ext cx="2238999" cy="145172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Низкая ценность пространственных данных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2">
            <a:extLst>
              <a:ext uri="{FF2B5EF4-FFF2-40B4-BE49-F238E27FC236}">
                <a16:creationId xmlns:a16="http://schemas.microsoft.com/office/drawing/2014/main" id="{114532A8-F7BB-42AA-A0CA-5CA889AF7A7A}"/>
              </a:ext>
            </a:extLst>
          </p:cNvPr>
          <p:cNvSpPr/>
          <p:nvPr/>
        </p:nvSpPr>
        <p:spPr>
          <a:xfrm>
            <a:off x="7977441" y="2194687"/>
            <a:ext cx="2480508" cy="145172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Невозможность качественно и в полном объёме оказывать государственные услуги и функции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20" name="Плюс 19"/>
          <p:cNvSpPr/>
          <p:nvPr/>
        </p:nvSpPr>
        <p:spPr>
          <a:xfrm>
            <a:off x="4552894" y="2722030"/>
            <a:ext cx="319812" cy="34879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AAAD0C68-371B-4180-8FAD-1D1F90D6AAB9}"/>
              </a:ext>
            </a:extLst>
          </p:cNvPr>
          <p:cNvSpPr/>
          <p:nvPr/>
        </p:nvSpPr>
        <p:spPr>
          <a:xfrm>
            <a:off x="4369326" y="1120031"/>
            <a:ext cx="3299807" cy="591820"/>
          </a:xfrm>
          <a:custGeom>
            <a:avLst/>
            <a:gdLst/>
            <a:ahLst/>
            <a:cxnLst/>
            <a:rect l="l" t="t" r="r" b="b"/>
            <a:pathLst>
              <a:path w="3432175" h="591819">
                <a:moveTo>
                  <a:pt x="3136392" y="0"/>
                </a:moveTo>
                <a:lnTo>
                  <a:pt x="295656" y="0"/>
                </a:lnTo>
                <a:lnTo>
                  <a:pt x="247699" y="3869"/>
                </a:lnTo>
                <a:lnTo>
                  <a:pt x="202206" y="15072"/>
                </a:lnTo>
                <a:lnTo>
                  <a:pt x="159786" y="33001"/>
                </a:lnTo>
                <a:lnTo>
                  <a:pt x="121046" y="57045"/>
                </a:lnTo>
                <a:lnTo>
                  <a:pt x="86596" y="86596"/>
                </a:lnTo>
                <a:lnTo>
                  <a:pt x="57045" y="121046"/>
                </a:lnTo>
                <a:lnTo>
                  <a:pt x="33001" y="159786"/>
                </a:lnTo>
                <a:lnTo>
                  <a:pt x="15072" y="202206"/>
                </a:lnTo>
                <a:lnTo>
                  <a:pt x="3869" y="247699"/>
                </a:lnTo>
                <a:lnTo>
                  <a:pt x="0" y="295655"/>
                </a:lnTo>
                <a:lnTo>
                  <a:pt x="3869" y="343612"/>
                </a:lnTo>
                <a:lnTo>
                  <a:pt x="15072" y="389105"/>
                </a:lnTo>
                <a:lnTo>
                  <a:pt x="33001" y="431525"/>
                </a:lnTo>
                <a:lnTo>
                  <a:pt x="57045" y="470265"/>
                </a:lnTo>
                <a:lnTo>
                  <a:pt x="86596" y="504715"/>
                </a:lnTo>
                <a:lnTo>
                  <a:pt x="121046" y="534266"/>
                </a:lnTo>
                <a:lnTo>
                  <a:pt x="159786" y="558310"/>
                </a:lnTo>
                <a:lnTo>
                  <a:pt x="202206" y="576239"/>
                </a:lnTo>
                <a:lnTo>
                  <a:pt x="247699" y="587442"/>
                </a:lnTo>
                <a:lnTo>
                  <a:pt x="295656" y="591311"/>
                </a:lnTo>
                <a:lnTo>
                  <a:pt x="3136392" y="591311"/>
                </a:lnTo>
                <a:lnTo>
                  <a:pt x="3184348" y="587442"/>
                </a:lnTo>
                <a:lnTo>
                  <a:pt x="3229841" y="576239"/>
                </a:lnTo>
                <a:lnTo>
                  <a:pt x="3272261" y="558310"/>
                </a:lnTo>
                <a:lnTo>
                  <a:pt x="3311001" y="534266"/>
                </a:lnTo>
                <a:lnTo>
                  <a:pt x="3345451" y="504715"/>
                </a:lnTo>
                <a:lnTo>
                  <a:pt x="3375002" y="470265"/>
                </a:lnTo>
                <a:lnTo>
                  <a:pt x="3399046" y="431525"/>
                </a:lnTo>
                <a:lnTo>
                  <a:pt x="3416975" y="389105"/>
                </a:lnTo>
                <a:lnTo>
                  <a:pt x="3428178" y="343612"/>
                </a:lnTo>
                <a:lnTo>
                  <a:pt x="3432048" y="295655"/>
                </a:lnTo>
                <a:lnTo>
                  <a:pt x="3428178" y="247699"/>
                </a:lnTo>
                <a:lnTo>
                  <a:pt x="3416975" y="202206"/>
                </a:lnTo>
                <a:lnTo>
                  <a:pt x="3399046" y="159786"/>
                </a:lnTo>
                <a:lnTo>
                  <a:pt x="3375002" y="121046"/>
                </a:lnTo>
                <a:lnTo>
                  <a:pt x="3345451" y="86596"/>
                </a:lnTo>
                <a:lnTo>
                  <a:pt x="3311001" y="57045"/>
                </a:lnTo>
                <a:lnTo>
                  <a:pt x="3272261" y="33001"/>
                </a:lnTo>
                <a:lnTo>
                  <a:pt x="3229841" y="15072"/>
                </a:lnTo>
                <a:lnTo>
                  <a:pt x="3184348" y="3869"/>
                </a:lnTo>
                <a:lnTo>
                  <a:pt x="3136392" y="0"/>
                </a:lnTo>
                <a:close/>
              </a:path>
            </a:pathLst>
          </a:custGeom>
          <a:solidFill>
            <a:srgbClr val="008C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5282106" y="1241031"/>
            <a:ext cx="1411681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ВЫВОДЫ</a:t>
            </a:r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F978E0E4-4A18-4391-9C79-43F261FD43BB}"/>
              </a:ext>
            </a:extLst>
          </p:cNvPr>
          <p:cNvSpPr txBox="1"/>
          <p:nvPr/>
        </p:nvSpPr>
        <p:spPr>
          <a:xfrm>
            <a:off x="3459881" y="732060"/>
            <a:ext cx="40328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46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ВЫЗОВ</a:t>
            </a:r>
          </a:p>
        </p:txBody>
      </p:sp>
      <p:pic>
        <p:nvPicPr>
          <p:cNvPr id="38" name="Graphic 76">
            <a:extLst>
              <a:ext uri="{FF2B5EF4-FFF2-40B4-BE49-F238E27FC236}">
                <a16:creationId xmlns:a16="http://schemas.microsoft.com/office/drawing/2014/main" id="{1CB51EB8-4CCB-4503-BFC5-EA9D0FBC4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1777" y="1256577"/>
            <a:ext cx="445560" cy="322647"/>
          </a:xfrm>
          <a:prstGeom prst="rect">
            <a:avLst/>
          </a:prstGeom>
        </p:spPr>
      </p:pic>
      <p:sp>
        <p:nvSpPr>
          <p:cNvPr id="39" name="Стрелка вправо 5">
            <a:extLst>
              <a:ext uri="{FF2B5EF4-FFF2-40B4-BE49-F238E27FC236}">
                <a16:creationId xmlns:a16="http://schemas.microsoft.com/office/drawing/2014/main" id="{DFDFD4FD-4517-428F-89E9-8DB1601B56AD}"/>
              </a:ext>
            </a:extLst>
          </p:cNvPr>
          <p:cNvSpPr/>
          <p:nvPr/>
        </p:nvSpPr>
        <p:spPr>
          <a:xfrm>
            <a:off x="7351364" y="2700754"/>
            <a:ext cx="479647" cy="43200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FFFFFF"/>
              </a:gs>
              <a:gs pos="55300">
                <a:srgbClr val="00B0F0"/>
              </a:gs>
              <a:gs pos="100000">
                <a:schemeClr val="tx2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20000" tIns="216000" rIns="120000" bIns="216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ru-RU" sz="1252" spc="-1">
              <a:solidFill>
                <a:srgbClr val="CCE8FF"/>
              </a:solidFill>
              <a:latin typeface="Arial"/>
              <a:ea typeface="DejaVu Sans"/>
            </a:endParaRPr>
          </a:p>
        </p:txBody>
      </p:sp>
      <p:sp>
        <p:nvSpPr>
          <p:cNvPr id="41" name="Rectangle: Rounded Corners 20">
            <a:extLst>
              <a:ext uri="{FF2B5EF4-FFF2-40B4-BE49-F238E27FC236}">
                <a16:creationId xmlns:a16="http://schemas.microsoft.com/office/drawing/2014/main" id="{ACE2667C-2C98-48B5-8AE2-E8AC2B772980}"/>
              </a:ext>
            </a:extLst>
          </p:cNvPr>
          <p:cNvSpPr/>
          <p:nvPr/>
        </p:nvSpPr>
        <p:spPr>
          <a:xfrm flipV="1">
            <a:off x="1344022" y="4145750"/>
            <a:ext cx="9789032" cy="133420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15" y="4256744"/>
            <a:ext cx="1112214" cy="1112214"/>
          </a:xfrm>
          <a:prstGeom prst="rect">
            <a:avLst/>
          </a:prstGeom>
        </p:spPr>
      </p:pic>
      <p:sp>
        <p:nvSpPr>
          <p:cNvPr id="42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2911673" y="4227517"/>
            <a:ext cx="7360921" cy="1293971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2">
                    <a:lumMod val="25000"/>
                  </a:schemeClr>
                </a:solidFill>
              </a:rPr>
              <a:t>Как повысить качество пространственных данных в организациях-поставщиках данных во ФГИС ЕЦП НСПД? </a:t>
            </a:r>
            <a:br>
              <a:rPr lang="ru-RU" sz="1400" b="1" dirty="0">
                <a:solidFill>
                  <a:schemeClr val="bg2">
                    <a:lumMod val="25000"/>
                  </a:schemeClr>
                </a:solidFill>
              </a:rPr>
            </a:br>
            <a:br>
              <a:rPr lang="ru-RU" sz="1400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ru-RU" sz="1400" b="1" dirty="0">
                <a:solidFill>
                  <a:schemeClr val="bg2">
                    <a:lumMod val="25000"/>
                  </a:schemeClr>
                </a:solidFill>
              </a:rPr>
              <a:t>С чего начать? Какой международный и российский опыт уже существует? Какие шаги нужно предпринять?</a:t>
            </a:r>
          </a:p>
        </p:txBody>
      </p:sp>
    </p:spTree>
    <p:extLst>
      <p:ext uri="{BB962C8B-B14F-4D97-AF65-F5344CB8AC3E}">
        <p14:creationId xmlns:p14="http://schemas.microsoft.com/office/powerpoint/2010/main" val="427476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8833" tIns="54433" rIns="108833" bIns="54433" anchor="ctr" anchorCtr="0">
            <a:noAutofit/>
          </a:bodyPr>
          <a:lstStyle/>
          <a:p>
            <a:pPr lvl="0">
              <a:buClr>
                <a:srgbClr val="008CFF"/>
              </a:buClr>
              <a:buSzPts val="3200"/>
            </a:pPr>
            <a:r>
              <a:rPr lang="ru-RU" sz="1800" dirty="0">
                <a:solidFill>
                  <a:srgbClr val="008CFF"/>
                </a:solidFill>
                <a:ea typeface="Open Sans"/>
                <a:cs typeface="Open Sans"/>
                <a:sym typeface="Open Sans"/>
              </a:rPr>
              <a:t>Качество пространственных данных: концептуальные основы оценки качества пространственных данных</a:t>
            </a:r>
            <a:endParaRPr sz="1800" dirty="0">
              <a:solidFill>
                <a:srgbClr val="008CFF"/>
              </a:solidFill>
              <a:ea typeface="Open Sans"/>
              <a:cs typeface="Open Sans"/>
              <a:sym typeface="Open Sans"/>
            </a:endParaRPr>
          </a:p>
        </p:txBody>
      </p:sp>
      <p:sp>
        <p:nvSpPr>
          <p:cNvPr id="40" name="Номер слайда 1"/>
          <p:cNvSpPr>
            <a:spLocks noGrp="1"/>
          </p:cNvSpPr>
          <p:nvPr>
            <p:ph type="sldNum" idx="4294967295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EBC476-9252-C343-9FCE-489A77E2EA66}" type="slidenum">
              <a:rPr kumimoji="0" lang="ru-RU" sz="1378" b="1" i="0" u="none" strike="noStrike" kern="1200" cap="none" spc="-1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glow rad="101600">
                    <a:srgbClr val="008CFF">
                      <a:satMod val="175000"/>
                      <a:alpha val="40000"/>
                    </a:srgbClr>
                  </a:glow>
                </a:effectLst>
                <a:uLnTx/>
                <a:uFillTx/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378" b="1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>
                <a:glow rad="101600">
                  <a:srgbClr val="008CFF">
                    <a:satMod val="175000"/>
                    <a:alpha val="40000"/>
                  </a:srgbClr>
                </a:glow>
              </a:effectLst>
              <a:uLnTx/>
              <a:uFillTx/>
              <a:latin typeface="Arial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1AF39E5-6B41-784C-D7BA-AC8B4D40C3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271" y="119736"/>
            <a:ext cx="529040" cy="514951"/>
          </a:xfrm>
          <a:prstGeom prst="rect">
            <a:avLst/>
          </a:prstGeom>
        </p:spPr>
      </p:pic>
      <p:pic>
        <p:nvPicPr>
          <p:cNvPr id="9218" name="Picture 2" descr="https://images.cadastre.ru/0/0/600/65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86" y="1264415"/>
            <a:ext cx="6886575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Скругленный прямоугольник 15">
            <a:extLst>
              <a:ext uri="{FF2B5EF4-FFF2-40B4-BE49-F238E27FC236}">
                <a16:creationId xmlns:a16="http://schemas.microsoft.com/office/drawing/2014/main" id="{8DC47297-2745-4A28-B165-D09F8655FDFF}"/>
              </a:ext>
            </a:extLst>
          </p:cNvPr>
          <p:cNvSpPr/>
          <p:nvPr/>
        </p:nvSpPr>
        <p:spPr>
          <a:xfrm>
            <a:off x="8402351" y="1412880"/>
            <a:ext cx="3317795" cy="192726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Качество</a:t>
            </a:r>
            <a:r>
              <a:rPr lang="ru-RU" sz="1200" dirty="0">
                <a:solidFill>
                  <a:schemeClr val="tx1"/>
                </a:solidFill>
              </a:rPr>
              <a:t> - степень соответствия совокупности собственных характеристик заявленным требованиям.</a:t>
            </a:r>
          </a:p>
          <a:p>
            <a:pPr algn="ctr"/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ru-RU" sz="1200" i="1" dirty="0">
                <a:solidFill>
                  <a:schemeClr val="tx1"/>
                </a:solidFill>
              </a:rPr>
              <a:t>ГОСТ Р 57773-2017 (ИСО 19157:2013) Пространственные данные. </a:t>
            </a:r>
            <a:br>
              <a:rPr lang="ru-RU" sz="1200" i="1" dirty="0">
                <a:solidFill>
                  <a:schemeClr val="tx1"/>
                </a:solidFill>
              </a:rPr>
            </a:br>
            <a:r>
              <a:rPr lang="ru-RU" sz="1200" i="1" dirty="0">
                <a:solidFill>
                  <a:schemeClr val="tx1"/>
                </a:solidFill>
              </a:rPr>
              <a:t>Качество данных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97163DD-30A9-4EB8-830E-73EC1F4815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1667" y="2159323"/>
            <a:ext cx="382509" cy="434375"/>
          </a:xfrm>
          <a:prstGeom prst="rect">
            <a:avLst/>
          </a:prstGeom>
        </p:spPr>
      </p:pic>
      <p:sp>
        <p:nvSpPr>
          <p:cNvPr id="12" name="Скругленный прямоугольник 15">
            <a:extLst>
              <a:ext uri="{FF2B5EF4-FFF2-40B4-BE49-F238E27FC236}">
                <a16:creationId xmlns:a16="http://schemas.microsoft.com/office/drawing/2014/main" id="{8DC47297-2745-4A28-B165-D09F8655FDFF}"/>
              </a:ext>
            </a:extLst>
          </p:cNvPr>
          <p:cNvSpPr/>
          <p:nvPr/>
        </p:nvSpPr>
        <p:spPr>
          <a:xfrm>
            <a:off x="8502121" y="3871149"/>
            <a:ext cx="3317795" cy="192726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Спецификация продукта </a:t>
            </a:r>
            <a:r>
              <a:rPr lang="ru-RU" sz="1200" dirty="0">
                <a:solidFill>
                  <a:schemeClr val="tx1"/>
                </a:solidFill>
              </a:rPr>
              <a:t>- детальное описание набора пространственных данных или комплекта наборов данных, а также дополнительная информация, обеспечивающая его создание, поставку и использование другой стороной.</a:t>
            </a:r>
          </a:p>
          <a:p>
            <a:pPr algn="ctr"/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ru-RU" sz="1200" i="1" dirty="0">
                <a:solidFill>
                  <a:schemeClr val="tx1"/>
                </a:solidFill>
              </a:rPr>
              <a:t>ГОСТ Р 70846.2 Национальная система пространственных данных. Термины и определения</a:t>
            </a:r>
          </a:p>
        </p:txBody>
      </p:sp>
      <p:pic>
        <p:nvPicPr>
          <p:cNvPr id="13" name="Graphic 10">
            <a:extLst>
              <a:ext uri="{FF2B5EF4-FFF2-40B4-BE49-F238E27FC236}">
                <a16:creationId xmlns:a16="http://schemas.microsoft.com/office/drawing/2014/main" id="{B97163DD-30A9-4EB8-830E-73EC1F4815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1666" y="4617592"/>
            <a:ext cx="382509" cy="43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8833" tIns="54433" rIns="108833" bIns="54433" anchor="ctr" anchorCtr="0">
            <a:noAutofit/>
          </a:bodyPr>
          <a:lstStyle/>
          <a:p>
            <a:pPr lvl="0">
              <a:buClr>
                <a:srgbClr val="008CFF"/>
              </a:buClr>
              <a:buSzPts val="3200"/>
            </a:pPr>
            <a:r>
              <a:rPr lang="ru-RU" sz="1800" dirty="0">
                <a:solidFill>
                  <a:srgbClr val="008CFF"/>
                </a:solidFill>
                <a:ea typeface="Open Sans"/>
                <a:cs typeface="Open Sans"/>
                <a:sym typeface="Open Sans"/>
              </a:rPr>
              <a:t>Качество пространственных данных: процесс оценки качества данных</a:t>
            </a:r>
            <a:endParaRPr sz="1800" dirty="0">
              <a:solidFill>
                <a:srgbClr val="008CFF"/>
              </a:solidFill>
              <a:ea typeface="Open Sans"/>
              <a:cs typeface="Open Sans"/>
              <a:sym typeface="Open Sans"/>
            </a:endParaRPr>
          </a:p>
        </p:txBody>
      </p:sp>
      <p:sp>
        <p:nvSpPr>
          <p:cNvPr id="40" name="Номер слайда 1"/>
          <p:cNvSpPr>
            <a:spLocks noGrp="1"/>
          </p:cNvSpPr>
          <p:nvPr>
            <p:ph type="sldNum" idx="4294967295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EBC476-9252-C343-9FCE-489A77E2EA66}" type="slidenum">
              <a:rPr kumimoji="0" lang="ru-RU" sz="1378" b="1" i="0" u="none" strike="noStrike" kern="1200" cap="none" spc="-1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glow rad="101600">
                    <a:srgbClr val="008CFF">
                      <a:satMod val="175000"/>
                      <a:alpha val="40000"/>
                    </a:srgbClr>
                  </a:glow>
                </a:effectLst>
                <a:uLnTx/>
                <a:uFillTx/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378" b="1" i="0" u="none" strike="noStrike" kern="1200" cap="none" spc="-1" normalizeH="0" baseline="0" noProof="0" dirty="0">
              <a:ln>
                <a:noFill/>
              </a:ln>
              <a:solidFill>
                <a:srgbClr val="FFFFFF"/>
              </a:solidFill>
              <a:effectLst>
                <a:glow rad="101600">
                  <a:srgbClr val="008CFF">
                    <a:satMod val="175000"/>
                    <a:alpha val="40000"/>
                  </a:srgbClr>
                </a:glow>
              </a:effectLst>
              <a:uLnTx/>
              <a:uFillTx/>
              <a:latin typeface="Arial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1AF39E5-6B41-784C-D7BA-AC8B4D40C3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271" y="119736"/>
            <a:ext cx="529040" cy="514951"/>
          </a:xfrm>
          <a:prstGeom prst="rect">
            <a:avLst/>
          </a:prstGeom>
        </p:spPr>
      </p:pic>
      <p:sp>
        <p:nvSpPr>
          <p:cNvPr id="10" name="Скругленный прямоугольник 15">
            <a:extLst>
              <a:ext uri="{FF2B5EF4-FFF2-40B4-BE49-F238E27FC236}">
                <a16:creationId xmlns:a16="http://schemas.microsoft.com/office/drawing/2014/main" id="{8DC47297-2745-4A28-B165-D09F8655FDFF}"/>
              </a:ext>
            </a:extLst>
          </p:cNvPr>
          <p:cNvSpPr/>
          <p:nvPr/>
        </p:nvSpPr>
        <p:spPr>
          <a:xfrm>
            <a:off x="7702040" y="4494178"/>
            <a:ext cx="4301271" cy="1760707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Базовая мера качества данных</a:t>
            </a:r>
            <a:r>
              <a:rPr lang="ru-RU" sz="1200" dirty="0">
                <a:solidFill>
                  <a:schemeClr val="tx1"/>
                </a:solidFill>
              </a:rPr>
              <a:t> - универсальная мера качества данных, используемая как основа для специализированных мер качества данных.</a:t>
            </a:r>
          </a:p>
          <a:p>
            <a:pPr algn="ctr"/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Пример – Процент значений атрибутов, которые являются верными.</a:t>
            </a:r>
          </a:p>
          <a:p>
            <a:pPr algn="ctr"/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ru-RU" sz="1200" i="1" dirty="0">
                <a:solidFill>
                  <a:schemeClr val="tx1"/>
                </a:solidFill>
              </a:rPr>
              <a:t>ГОСТ Р 57773-2017 (ИСО 19157:2013)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97163DD-30A9-4EB8-830E-73EC1F481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5778" y="5157343"/>
            <a:ext cx="382509" cy="434375"/>
          </a:xfrm>
          <a:prstGeom prst="rect">
            <a:avLst/>
          </a:prstGeom>
        </p:spPr>
      </p:pic>
      <p:sp>
        <p:nvSpPr>
          <p:cNvPr id="12" name="Скругленный прямоугольник 15">
            <a:extLst>
              <a:ext uri="{FF2B5EF4-FFF2-40B4-BE49-F238E27FC236}">
                <a16:creationId xmlns:a16="http://schemas.microsoft.com/office/drawing/2014/main" id="{8DC47297-2745-4A28-B165-D09F8655FDFF}"/>
              </a:ext>
            </a:extLst>
          </p:cNvPr>
          <p:cNvSpPr/>
          <p:nvPr/>
        </p:nvSpPr>
        <p:spPr>
          <a:xfrm>
            <a:off x="7702040" y="964767"/>
            <a:ext cx="4301272" cy="1366289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Единица качества данных </a:t>
            </a:r>
            <a:r>
              <a:rPr lang="ru-RU" sz="1200" dirty="0">
                <a:solidFill>
                  <a:schemeClr val="tx1"/>
                </a:solidFill>
              </a:rPr>
              <a:t>- это совокупность области определения и элементов качества данных.</a:t>
            </a:r>
          </a:p>
          <a:p>
            <a:pPr algn="ctr"/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ru-RU" sz="1200" i="1" dirty="0">
                <a:solidFill>
                  <a:schemeClr val="tx1"/>
                </a:solidFill>
              </a:rPr>
              <a:t>ГОСТ Р 57773-2017 (ИСО 19157:2013) Пространственные данные. </a:t>
            </a:r>
            <a:br>
              <a:rPr lang="ru-RU" sz="1200" i="1" dirty="0">
                <a:solidFill>
                  <a:schemeClr val="tx1"/>
                </a:solidFill>
              </a:rPr>
            </a:br>
            <a:r>
              <a:rPr lang="ru-RU" sz="1200" i="1" dirty="0">
                <a:solidFill>
                  <a:schemeClr val="tx1"/>
                </a:solidFill>
              </a:rPr>
              <a:t>Качество данных</a:t>
            </a:r>
          </a:p>
        </p:txBody>
      </p:sp>
      <p:pic>
        <p:nvPicPr>
          <p:cNvPr id="13" name="Graphic 10">
            <a:extLst>
              <a:ext uri="{FF2B5EF4-FFF2-40B4-BE49-F238E27FC236}">
                <a16:creationId xmlns:a16="http://schemas.microsoft.com/office/drawing/2014/main" id="{B97163DD-30A9-4EB8-830E-73EC1F481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8364" y="1440092"/>
            <a:ext cx="382509" cy="434375"/>
          </a:xfrm>
          <a:prstGeom prst="rect">
            <a:avLst/>
          </a:prstGeom>
        </p:spPr>
      </p:pic>
      <p:sp>
        <p:nvSpPr>
          <p:cNvPr id="14" name="Скругленный прямоугольник 15">
            <a:extLst>
              <a:ext uri="{FF2B5EF4-FFF2-40B4-BE49-F238E27FC236}">
                <a16:creationId xmlns:a16="http://schemas.microsoft.com/office/drawing/2014/main" id="{8DC47297-2745-4A28-B165-D09F8655FDFF}"/>
              </a:ext>
            </a:extLst>
          </p:cNvPr>
          <p:cNvSpPr/>
          <p:nvPr/>
        </p:nvSpPr>
        <p:spPr>
          <a:xfrm>
            <a:off x="7702040" y="2500931"/>
            <a:ext cx="4301271" cy="1823371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Элемент качества данных</a:t>
            </a:r>
            <a:r>
              <a:rPr lang="ru-RU" sz="1200" dirty="0">
                <a:solidFill>
                  <a:schemeClr val="tx1"/>
                </a:solidFill>
              </a:rPr>
              <a:t> - это компонент, описывающий определенный аспект качества пространственных данных, организованный по различным категориям.</a:t>
            </a:r>
          </a:p>
          <a:p>
            <a:pPr algn="ctr"/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Пример – полнота, логическая согласованность, позиционная точность и т.д.</a:t>
            </a:r>
          </a:p>
          <a:p>
            <a:pPr algn="ctr"/>
            <a:endParaRPr lang="ru-RU" sz="1200" dirty="0">
              <a:solidFill>
                <a:schemeClr val="tx1"/>
              </a:solidFill>
            </a:endParaRPr>
          </a:p>
          <a:p>
            <a:pPr algn="ctr"/>
            <a:r>
              <a:rPr lang="ru-RU" sz="1200" i="1" dirty="0">
                <a:solidFill>
                  <a:schemeClr val="tx1"/>
                </a:solidFill>
              </a:rPr>
              <a:t>ГОСТ Р 57773-2017 (ИСО 19157:2013)</a:t>
            </a:r>
          </a:p>
        </p:txBody>
      </p:sp>
      <p:pic>
        <p:nvPicPr>
          <p:cNvPr id="16" name="Graphic 10">
            <a:extLst>
              <a:ext uri="{FF2B5EF4-FFF2-40B4-BE49-F238E27FC236}">
                <a16:creationId xmlns:a16="http://schemas.microsoft.com/office/drawing/2014/main" id="{B97163DD-30A9-4EB8-830E-73EC1F481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8364" y="3195428"/>
            <a:ext cx="382509" cy="43437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46" y="964767"/>
            <a:ext cx="5998832" cy="513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0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6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Характеристики качества данных*</a:t>
            </a:r>
          </a:p>
        </p:txBody>
      </p:sp>
      <p:sp>
        <p:nvSpPr>
          <p:cNvPr id="13" name="Скругленный прямоугольник 2">
            <a:extLst>
              <a:ext uri="{FF2B5EF4-FFF2-40B4-BE49-F238E27FC236}">
                <a16:creationId xmlns:a16="http://schemas.microsoft.com/office/drawing/2014/main" id="{CC5D2123-0BAD-4BB2-8605-208641ECFF0B}"/>
              </a:ext>
            </a:extLst>
          </p:cNvPr>
          <p:cNvSpPr/>
          <p:nvPr/>
        </p:nvSpPr>
        <p:spPr>
          <a:xfrm>
            <a:off x="728466" y="1246585"/>
            <a:ext cx="2339962" cy="8935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Точность (</a:t>
            </a:r>
            <a:r>
              <a:rPr lang="ru-RU" sz="1200" b="1" dirty="0" err="1"/>
              <a:t>Accuracy</a:t>
            </a:r>
            <a:r>
              <a:rPr lang="ru-RU" sz="1200" b="1" dirty="0"/>
              <a:t>) </a:t>
            </a:r>
            <a:r>
              <a:rPr lang="ru-RU" sz="1200" dirty="0"/>
              <a:t>– степень соответствия данных реальному значению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1">
            <a:extLst>
              <a:ext uri="{FF2B5EF4-FFF2-40B4-BE49-F238E27FC236}">
                <a16:creationId xmlns:a16="http://schemas.microsoft.com/office/drawing/2014/main" id="{F95B334A-9374-4A91-828D-746C59187E5B}"/>
              </a:ext>
            </a:extLst>
          </p:cNvPr>
          <p:cNvSpPr/>
          <p:nvPr/>
        </p:nvSpPr>
        <p:spPr>
          <a:xfrm>
            <a:off x="3724843" y="1236055"/>
            <a:ext cx="2238999" cy="90403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Полнота (</a:t>
            </a:r>
            <a:r>
              <a:rPr lang="ru-RU" sz="1200" b="1" dirty="0" err="1"/>
              <a:t>Completeness</a:t>
            </a:r>
            <a:r>
              <a:rPr lang="ru-RU" sz="1200" b="1" dirty="0"/>
              <a:t>)</a:t>
            </a:r>
            <a:r>
              <a:rPr lang="ru-RU" sz="1200" dirty="0"/>
              <a:t> – отсутствие пропущенных значений в данных.</a:t>
            </a:r>
          </a:p>
        </p:txBody>
      </p:sp>
      <p:sp>
        <p:nvSpPr>
          <p:cNvPr id="15" name="Скругленный прямоугольник 12">
            <a:extLst>
              <a:ext uri="{FF2B5EF4-FFF2-40B4-BE49-F238E27FC236}">
                <a16:creationId xmlns:a16="http://schemas.microsoft.com/office/drawing/2014/main" id="{114532A8-F7BB-42AA-A0CA-5CA889AF7A7A}"/>
              </a:ext>
            </a:extLst>
          </p:cNvPr>
          <p:cNvSpPr/>
          <p:nvPr/>
        </p:nvSpPr>
        <p:spPr>
          <a:xfrm>
            <a:off x="6528177" y="1236055"/>
            <a:ext cx="2238999" cy="90403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Непротиворечивость (</a:t>
            </a:r>
            <a:r>
              <a:rPr lang="ru-RU" sz="1200" b="1" dirty="0" err="1"/>
              <a:t>Consistency</a:t>
            </a:r>
            <a:r>
              <a:rPr lang="ru-RU" sz="1200" b="1" dirty="0"/>
              <a:t>)</a:t>
            </a:r>
            <a:r>
              <a:rPr lang="ru-RU" sz="1200" dirty="0"/>
              <a:t> – отсутствие логических противоречий в данных.</a:t>
            </a:r>
          </a:p>
        </p:txBody>
      </p:sp>
      <p:sp>
        <p:nvSpPr>
          <p:cNvPr id="16" name="Скругленный прямоугольник 13">
            <a:extLst>
              <a:ext uri="{FF2B5EF4-FFF2-40B4-BE49-F238E27FC236}">
                <a16:creationId xmlns:a16="http://schemas.microsoft.com/office/drawing/2014/main" id="{5A253A79-26D3-47E0-B3BA-DAE204964947}"/>
              </a:ext>
            </a:extLst>
          </p:cNvPr>
          <p:cNvSpPr/>
          <p:nvPr/>
        </p:nvSpPr>
        <p:spPr>
          <a:xfrm>
            <a:off x="9527287" y="1246586"/>
            <a:ext cx="2238999" cy="8935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Достоверность (</a:t>
            </a:r>
            <a:r>
              <a:rPr lang="ru-RU" sz="1200" b="1" dirty="0" err="1"/>
              <a:t>Credibility</a:t>
            </a:r>
            <a:r>
              <a:rPr lang="ru-RU" sz="1200" b="1" dirty="0"/>
              <a:t>)</a:t>
            </a:r>
            <a:r>
              <a:rPr lang="ru-RU" sz="1200" dirty="0"/>
              <a:t> – степень доверия к данным на основе их происхождения и обработки.</a:t>
            </a:r>
          </a:p>
        </p:txBody>
      </p:sp>
      <p:sp>
        <p:nvSpPr>
          <p:cNvPr id="21" name="Скругленный прямоугольник 14">
            <a:extLst>
              <a:ext uri="{FF2B5EF4-FFF2-40B4-BE49-F238E27FC236}">
                <a16:creationId xmlns:a16="http://schemas.microsoft.com/office/drawing/2014/main" id="{B0080F91-C6A0-4946-BA8F-6B450E865663}"/>
              </a:ext>
            </a:extLst>
          </p:cNvPr>
          <p:cNvSpPr/>
          <p:nvPr/>
        </p:nvSpPr>
        <p:spPr>
          <a:xfrm>
            <a:off x="752030" y="2261651"/>
            <a:ext cx="2339962" cy="906416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Актуальность (</a:t>
            </a:r>
            <a:r>
              <a:rPr lang="ru-RU" sz="1200" b="1" dirty="0" err="1">
                <a:solidFill>
                  <a:schemeClr val="tx1"/>
                </a:solidFill>
              </a:rPr>
              <a:t>Currency</a:t>
            </a:r>
            <a:r>
              <a:rPr lang="ru-RU" sz="1200" b="1" dirty="0">
                <a:solidFill>
                  <a:schemeClr val="tx1"/>
                </a:solidFill>
              </a:rPr>
              <a:t>) </a:t>
            </a:r>
            <a:r>
              <a:rPr lang="ru-RU" sz="1200" dirty="0">
                <a:solidFill>
                  <a:schemeClr val="tx1"/>
                </a:solidFill>
              </a:rPr>
              <a:t>– соответствие данных текущему состоянию реального мира.</a:t>
            </a:r>
          </a:p>
        </p:txBody>
      </p:sp>
      <p:sp>
        <p:nvSpPr>
          <p:cNvPr id="22" name="Скругленный прямоугольник 15">
            <a:extLst>
              <a:ext uri="{FF2B5EF4-FFF2-40B4-BE49-F238E27FC236}">
                <a16:creationId xmlns:a16="http://schemas.microsoft.com/office/drawing/2014/main" id="{8DC47297-2745-4A28-B165-D09F8655FDFF}"/>
              </a:ext>
            </a:extLst>
          </p:cNvPr>
          <p:cNvSpPr/>
          <p:nvPr/>
        </p:nvSpPr>
        <p:spPr>
          <a:xfrm>
            <a:off x="3724843" y="2261285"/>
            <a:ext cx="2238999" cy="90678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Гранулярность (</a:t>
            </a:r>
            <a:r>
              <a:rPr lang="ru-RU" sz="1200" b="1" dirty="0" err="1">
                <a:solidFill>
                  <a:schemeClr val="tx1"/>
                </a:solidFill>
              </a:rPr>
              <a:t>Granularity</a:t>
            </a:r>
            <a:r>
              <a:rPr lang="ru-RU" sz="1200" b="1" dirty="0">
                <a:solidFill>
                  <a:schemeClr val="tx1"/>
                </a:solidFill>
              </a:rPr>
              <a:t>) </a:t>
            </a:r>
            <a:r>
              <a:rPr lang="ru-RU" sz="1200" dirty="0">
                <a:solidFill>
                  <a:schemeClr val="tx1"/>
                </a:solidFill>
              </a:rPr>
              <a:t>– уровень детализации данных.</a:t>
            </a:r>
          </a:p>
        </p:txBody>
      </p:sp>
      <p:sp>
        <p:nvSpPr>
          <p:cNvPr id="23" name="Скругленный прямоугольник 16">
            <a:extLst>
              <a:ext uri="{FF2B5EF4-FFF2-40B4-BE49-F238E27FC236}">
                <a16:creationId xmlns:a16="http://schemas.microsoft.com/office/drawing/2014/main" id="{4C8930FF-BA7F-4F68-AA89-472CAB2910B0}"/>
              </a:ext>
            </a:extLst>
          </p:cNvPr>
          <p:cNvSpPr/>
          <p:nvPr/>
        </p:nvSpPr>
        <p:spPr>
          <a:xfrm>
            <a:off x="6528177" y="2261286"/>
            <a:ext cx="2238999" cy="906781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Точность представления (</a:t>
            </a:r>
            <a:r>
              <a:rPr lang="ru-RU" sz="1200" b="1" dirty="0" err="1">
                <a:solidFill>
                  <a:schemeClr val="tx1"/>
                </a:solidFill>
              </a:rPr>
              <a:t>Precision</a:t>
            </a:r>
            <a:r>
              <a:rPr lang="ru-RU" sz="1200" b="1" dirty="0">
                <a:solidFill>
                  <a:schemeClr val="tx1"/>
                </a:solidFill>
              </a:rPr>
              <a:t>) </a:t>
            </a:r>
            <a:r>
              <a:rPr lang="ru-RU" sz="1200" dirty="0">
                <a:solidFill>
                  <a:schemeClr val="tx1"/>
                </a:solidFill>
              </a:rPr>
              <a:t>– степень детализации числовых данных.</a:t>
            </a:r>
          </a:p>
        </p:txBody>
      </p:sp>
      <p:sp>
        <p:nvSpPr>
          <p:cNvPr id="24" name="Скругленный прямоугольник 17">
            <a:extLst>
              <a:ext uri="{FF2B5EF4-FFF2-40B4-BE49-F238E27FC236}">
                <a16:creationId xmlns:a16="http://schemas.microsoft.com/office/drawing/2014/main" id="{4A199481-2ED4-444A-B504-016F8D533A86}"/>
              </a:ext>
            </a:extLst>
          </p:cNvPr>
          <p:cNvSpPr/>
          <p:nvPr/>
        </p:nvSpPr>
        <p:spPr>
          <a:xfrm>
            <a:off x="9527287" y="2261286"/>
            <a:ext cx="2238999" cy="90678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Интерпретируемость (</a:t>
            </a:r>
            <a:r>
              <a:rPr lang="ru-RU" sz="1200" b="1" dirty="0" err="1">
                <a:solidFill>
                  <a:schemeClr val="tx1"/>
                </a:solidFill>
              </a:rPr>
              <a:t>Interpretability</a:t>
            </a:r>
            <a:r>
              <a:rPr lang="ru-RU" sz="1200" b="1" dirty="0">
                <a:solidFill>
                  <a:schemeClr val="tx1"/>
                </a:solidFill>
              </a:rPr>
              <a:t>) </a:t>
            </a:r>
            <a:r>
              <a:rPr lang="ru-RU" sz="1200" dirty="0">
                <a:solidFill>
                  <a:schemeClr val="tx1"/>
                </a:solidFill>
              </a:rPr>
              <a:t>– понятность данных (наличие метаданных, описаний).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F5C5F3-09DB-468D-BF55-3E2A7F502E67}"/>
              </a:ext>
            </a:extLst>
          </p:cNvPr>
          <p:cNvSpPr txBox="1"/>
          <p:nvPr/>
        </p:nvSpPr>
        <p:spPr>
          <a:xfrm>
            <a:off x="372665" y="1368150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656772-88E0-4D02-87E7-940AEB1EC67C}"/>
              </a:ext>
            </a:extLst>
          </p:cNvPr>
          <p:cNvSpPr txBox="1"/>
          <p:nvPr/>
        </p:nvSpPr>
        <p:spPr>
          <a:xfrm>
            <a:off x="3364013" y="1357255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FF347F-5C2E-443C-B0EE-7BAB33E52ABA}"/>
              </a:ext>
            </a:extLst>
          </p:cNvPr>
          <p:cNvSpPr txBox="1"/>
          <p:nvPr/>
        </p:nvSpPr>
        <p:spPr>
          <a:xfrm>
            <a:off x="6137718" y="1346360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17720D-1098-4EF0-B1D3-1D32C40B2F47}"/>
              </a:ext>
            </a:extLst>
          </p:cNvPr>
          <p:cNvSpPr txBox="1"/>
          <p:nvPr/>
        </p:nvSpPr>
        <p:spPr>
          <a:xfrm>
            <a:off x="9148879" y="1380200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8965AD-7013-4747-AEEE-E472BAFB6C73}"/>
              </a:ext>
            </a:extLst>
          </p:cNvPr>
          <p:cNvSpPr txBox="1"/>
          <p:nvPr/>
        </p:nvSpPr>
        <p:spPr>
          <a:xfrm>
            <a:off x="372664" y="2422288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FF9580-1F93-4946-9B9D-0B40BD684ABF}"/>
              </a:ext>
            </a:extLst>
          </p:cNvPr>
          <p:cNvSpPr txBox="1"/>
          <p:nvPr/>
        </p:nvSpPr>
        <p:spPr>
          <a:xfrm>
            <a:off x="3364012" y="2422287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B9BBF1-067E-4D9C-8B1A-301FA9521AAE}"/>
              </a:ext>
            </a:extLst>
          </p:cNvPr>
          <p:cNvSpPr txBox="1"/>
          <p:nvPr/>
        </p:nvSpPr>
        <p:spPr>
          <a:xfrm>
            <a:off x="6119981" y="2422286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11D357-A1FC-4E92-9DEF-BAE56AFF422D}"/>
              </a:ext>
            </a:extLst>
          </p:cNvPr>
          <p:cNvSpPr txBox="1"/>
          <p:nvPr/>
        </p:nvSpPr>
        <p:spPr>
          <a:xfrm>
            <a:off x="9133332" y="2422285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8</a:t>
            </a:r>
          </a:p>
        </p:txBody>
      </p:sp>
      <p:sp>
        <p:nvSpPr>
          <p:cNvPr id="20" name="Скругленный прямоугольник 14">
            <a:extLst>
              <a:ext uri="{FF2B5EF4-FFF2-40B4-BE49-F238E27FC236}">
                <a16:creationId xmlns:a16="http://schemas.microsoft.com/office/drawing/2014/main" id="{B0080F91-C6A0-4946-BA8F-6B450E865663}"/>
              </a:ext>
            </a:extLst>
          </p:cNvPr>
          <p:cNvSpPr/>
          <p:nvPr/>
        </p:nvSpPr>
        <p:spPr>
          <a:xfrm>
            <a:off x="774207" y="3320587"/>
            <a:ext cx="2339962" cy="906416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Соответствие требованиям (</a:t>
            </a:r>
            <a:r>
              <a:rPr lang="ru-RU" sz="1200" b="1" dirty="0" err="1">
                <a:solidFill>
                  <a:schemeClr val="tx1"/>
                </a:solidFill>
              </a:rPr>
              <a:t>Compliance</a:t>
            </a:r>
            <a:r>
              <a:rPr lang="ru-RU" sz="1200" b="1" dirty="0">
                <a:solidFill>
                  <a:schemeClr val="tx1"/>
                </a:solidFill>
              </a:rPr>
              <a:t>) </a:t>
            </a:r>
            <a:r>
              <a:rPr lang="ru-RU" sz="1200" dirty="0">
                <a:solidFill>
                  <a:schemeClr val="tx1"/>
                </a:solidFill>
              </a:rPr>
              <a:t>– соблюдение стандартов и нормативных актов.</a:t>
            </a:r>
          </a:p>
        </p:txBody>
      </p:sp>
      <p:sp>
        <p:nvSpPr>
          <p:cNvPr id="33" name="Скругленный прямоугольник 15">
            <a:extLst>
              <a:ext uri="{FF2B5EF4-FFF2-40B4-BE49-F238E27FC236}">
                <a16:creationId xmlns:a16="http://schemas.microsoft.com/office/drawing/2014/main" id="{8DC47297-2745-4A28-B165-D09F8655FDFF}"/>
              </a:ext>
            </a:extLst>
          </p:cNvPr>
          <p:cNvSpPr/>
          <p:nvPr/>
        </p:nvSpPr>
        <p:spPr>
          <a:xfrm>
            <a:off x="3747020" y="3320221"/>
            <a:ext cx="2238999" cy="90678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Доступность (</a:t>
            </a:r>
            <a:r>
              <a:rPr lang="ru-RU" sz="1200" b="1" dirty="0" err="1">
                <a:solidFill>
                  <a:schemeClr val="tx1"/>
                </a:solidFill>
              </a:rPr>
              <a:t>Accessibility</a:t>
            </a:r>
            <a:r>
              <a:rPr lang="ru-RU" sz="1200" b="1" dirty="0">
                <a:solidFill>
                  <a:schemeClr val="tx1"/>
                </a:solidFill>
              </a:rPr>
              <a:t>)</a:t>
            </a:r>
            <a:r>
              <a:rPr lang="ru-RU" sz="1200" dirty="0">
                <a:solidFill>
                  <a:schemeClr val="tx1"/>
                </a:solidFill>
              </a:rPr>
              <a:t> – возможность получения данных пользователями.</a:t>
            </a:r>
          </a:p>
        </p:txBody>
      </p:sp>
      <p:sp>
        <p:nvSpPr>
          <p:cNvPr id="34" name="Скругленный прямоугольник 16">
            <a:extLst>
              <a:ext uri="{FF2B5EF4-FFF2-40B4-BE49-F238E27FC236}">
                <a16:creationId xmlns:a16="http://schemas.microsoft.com/office/drawing/2014/main" id="{4C8930FF-BA7F-4F68-AA89-472CAB2910B0}"/>
              </a:ext>
            </a:extLst>
          </p:cNvPr>
          <p:cNvSpPr/>
          <p:nvPr/>
        </p:nvSpPr>
        <p:spPr>
          <a:xfrm>
            <a:off x="6550354" y="3320222"/>
            <a:ext cx="2238999" cy="906781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Эффективность (</a:t>
            </a:r>
            <a:r>
              <a:rPr lang="ru-RU" sz="1200" b="1" dirty="0" err="1">
                <a:solidFill>
                  <a:schemeClr val="tx1"/>
                </a:solidFill>
              </a:rPr>
              <a:t>Efficiency</a:t>
            </a:r>
            <a:r>
              <a:rPr lang="ru-RU" sz="1200" b="1" dirty="0">
                <a:solidFill>
                  <a:schemeClr val="tx1"/>
                </a:solidFill>
              </a:rPr>
              <a:t>) </a:t>
            </a:r>
            <a:r>
              <a:rPr lang="ru-RU" sz="1200" dirty="0">
                <a:solidFill>
                  <a:schemeClr val="tx1"/>
                </a:solidFill>
              </a:rPr>
              <a:t>– скорость и ресурсы, необходимые для работы с данными.</a:t>
            </a:r>
          </a:p>
        </p:txBody>
      </p:sp>
      <p:sp>
        <p:nvSpPr>
          <p:cNvPr id="35" name="Скругленный прямоугольник 17">
            <a:extLst>
              <a:ext uri="{FF2B5EF4-FFF2-40B4-BE49-F238E27FC236}">
                <a16:creationId xmlns:a16="http://schemas.microsoft.com/office/drawing/2014/main" id="{4A199481-2ED4-444A-B504-016F8D533A86}"/>
              </a:ext>
            </a:extLst>
          </p:cNvPr>
          <p:cNvSpPr/>
          <p:nvPr/>
        </p:nvSpPr>
        <p:spPr>
          <a:xfrm>
            <a:off x="9549464" y="3320222"/>
            <a:ext cx="2238999" cy="90678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Конфиденциальность (</a:t>
            </a:r>
            <a:r>
              <a:rPr lang="ru-RU" sz="1200" b="1" dirty="0" err="1">
                <a:solidFill>
                  <a:schemeClr val="tx1"/>
                </a:solidFill>
              </a:rPr>
              <a:t>Confidentiality</a:t>
            </a:r>
            <a:r>
              <a:rPr lang="ru-RU" sz="1200" b="1" dirty="0">
                <a:solidFill>
                  <a:schemeClr val="tx1"/>
                </a:solidFill>
              </a:rPr>
              <a:t>) </a:t>
            </a:r>
            <a:r>
              <a:rPr lang="ru-RU" sz="1200" dirty="0">
                <a:solidFill>
                  <a:schemeClr val="tx1"/>
                </a:solidFill>
              </a:rPr>
              <a:t>– защита данных от несанкционированного доступа.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8965AD-7013-4747-AEEE-E472BAFB6C73}"/>
              </a:ext>
            </a:extLst>
          </p:cNvPr>
          <p:cNvSpPr txBox="1"/>
          <p:nvPr/>
        </p:nvSpPr>
        <p:spPr>
          <a:xfrm>
            <a:off x="394841" y="3481224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AFF"/>
                </a:solidFill>
              </a:rPr>
              <a:t>9</a:t>
            </a:r>
            <a:endParaRPr lang="ru-RU" sz="3200" b="1" dirty="0">
              <a:solidFill>
                <a:srgbClr val="007AFF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FF9580-1F93-4946-9B9D-0B40BD684ABF}"/>
              </a:ext>
            </a:extLst>
          </p:cNvPr>
          <p:cNvSpPr txBox="1"/>
          <p:nvPr/>
        </p:nvSpPr>
        <p:spPr>
          <a:xfrm>
            <a:off x="3161695" y="3481221"/>
            <a:ext cx="683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AFF"/>
                </a:solidFill>
              </a:rPr>
              <a:t>10</a:t>
            </a:r>
            <a:endParaRPr lang="ru-RU" sz="3200" b="1" dirty="0">
              <a:solidFill>
                <a:srgbClr val="007AFF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B9BBF1-067E-4D9C-8B1A-301FA9521AAE}"/>
              </a:ext>
            </a:extLst>
          </p:cNvPr>
          <p:cNvSpPr txBox="1"/>
          <p:nvPr/>
        </p:nvSpPr>
        <p:spPr>
          <a:xfrm>
            <a:off x="5986020" y="3481222"/>
            <a:ext cx="723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AFF"/>
                </a:solidFill>
              </a:rPr>
              <a:t>11</a:t>
            </a:r>
            <a:endParaRPr lang="ru-RU" sz="3200" b="1" dirty="0">
              <a:solidFill>
                <a:srgbClr val="007A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11D357-A1FC-4E92-9DEF-BAE56AFF422D}"/>
              </a:ext>
            </a:extLst>
          </p:cNvPr>
          <p:cNvSpPr txBox="1"/>
          <p:nvPr/>
        </p:nvSpPr>
        <p:spPr>
          <a:xfrm>
            <a:off x="8949447" y="3481221"/>
            <a:ext cx="77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AFF"/>
                </a:solidFill>
              </a:rPr>
              <a:t>12</a:t>
            </a:r>
            <a:endParaRPr lang="ru-RU" sz="3200" b="1" dirty="0">
              <a:solidFill>
                <a:srgbClr val="007AFF"/>
              </a:solidFill>
            </a:endParaRPr>
          </a:p>
        </p:txBody>
      </p:sp>
      <p:sp>
        <p:nvSpPr>
          <p:cNvPr id="41" name="Скругленный прямоугольник 17">
            <a:extLst>
              <a:ext uri="{FF2B5EF4-FFF2-40B4-BE49-F238E27FC236}">
                <a16:creationId xmlns:a16="http://schemas.microsoft.com/office/drawing/2014/main" id="{4A199481-2ED4-444A-B504-016F8D533A86}"/>
              </a:ext>
            </a:extLst>
          </p:cNvPr>
          <p:cNvSpPr/>
          <p:nvPr/>
        </p:nvSpPr>
        <p:spPr>
          <a:xfrm>
            <a:off x="2406119" y="4418249"/>
            <a:ext cx="2238999" cy="90678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Целостность (</a:t>
            </a:r>
            <a:r>
              <a:rPr lang="ru-RU" sz="1200" b="1" dirty="0" err="1">
                <a:solidFill>
                  <a:schemeClr val="tx1"/>
                </a:solidFill>
              </a:rPr>
              <a:t>Integrity</a:t>
            </a:r>
            <a:r>
              <a:rPr lang="ru-RU" sz="1200" b="1" dirty="0">
                <a:solidFill>
                  <a:schemeClr val="tx1"/>
                </a:solidFill>
              </a:rPr>
              <a:t>) </a:t>
            </a:r>
            <a:r>
              <a:rPr lang="ru-RU" sz="1200" dirty="0">
                <a:solidFill>
                  <a:schemeClr val="tx1"/>
                </a:solidFill>
              </a:rPr>
              <a:t>– защита данных от несанкционированного изменения.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11D357-A1FC-4E92-9DEF-BAE56AFF422D}"/>
              </a:ext>
            </a:extLst>
          </p:cNvPr>
          <p:cNvSpPr txBox="1"/>
          <p:nvPr/>
        </p:nvSpPr>
        <p:spPr>
          <a:xfrm>
            <a:off x="1806102" y="4579248"/>
            <a:ext cx="77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AFF"/>
                </a:solidFill>
              </a:rPr>
              <a:t>1</a:t>
            </a:r>
            <a:r>
              <a:rPr lang="ru-RU" sz="3200" b="1" dirty="0">
                <a:solidFill>
                  <a:srgbClr val="007AFF"/>
                </a:solidFill>
              </a:rPr>
              <a:t>3</a:t>
            </a:r>
          </a:p>
        </p:txBody>
      </p:sp>
      <p:sp>
        <p:nvSpPr>
          <p:cNvPr id="43" name="Скругленный прямоугольник 17">
            <a:extLst>
              <a:ext uri="{FF2B5EF4-FFF2-40B4-BE49-F238E27FC236}">
                <a16:creationId xmlns:a16="http://schemas.microsoft.com/office/drawing/2014/main" id="{4A199481-2ED4-444A-B504-016F8D533A86}"/>
              </a:ext>
            </a:extLst>
          </p:cNvPr>
          <p:cNvSpPr/>
          <p:nvPr/>
        </p:nvSpPr>
        <p:spPr>
          <a:xfrm>
            <a:off x="5321174" y="4409454"/>
            <a:ext cx="2238999" cy="90678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 err="1">
                <a:solidFill>
                  <a:schemeClr val="tx1"/>
                </a:solidFill>
              </a:rPr>
              <a:t>Прослеживаемость</a:t>
            </a:r>
            <a:r>
              <a:rPr lang="ru-RU" sz="1200" b="1" dirty="0">
                <a:solidFill>
                  <a:schemeClr val="tx1"/>
                </a:solidFill>
              </a:rPr>
              <a:t> (</a:t>
            </a:r>
            <a:r>
              <a:rPr lang="ru-RU" sz="1200" b="1" dirty="0" err="1">
                <a:solidFill>
                  <a:schemeClr val="tx1"/>
                </a:solidFill>
              </a:rPr>
              <a:t>Traceability</a:t>
            </a:r>
            <a:r>
              <a:rPr lang="ru-RU" sz="1200" b="1" dirty="0">
                <a:solidFill>
                  <a:schemeClr val="tx1"/>
                </a:solidFill>
              </a:rPr>
              <a:t>) </a:t>
            </a:r>
            <a:r>
              <a:rPr lang="ru-RU" sz="1200" dirty="0">
                <a:solidFill>
                  <a:schemeClr val="tx1"/>
                </a:solidFill>
              </a:rPr>
              <a:t>– возможность отследить происхождение данных.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11D357-A1FC-4E92-9DEF-BAE56AFF422D}"/>
              </a:ext>
            </a:extLst>
          </p:cNvPr>
          <p:cNvSpPr txBox="1"/>
          <p:nvPr/>
        </p:nvSpPr>
        <p:spPr>
          <a:xfrm>
            <a:off x="4721157" y="4570453"/>
            <a:ext cx="77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AFF"/>
                </a:solidFill>
              </a:rPr>
              <a:t>1</a:t>
            </a:r>
            <a:r>
              <a:rPr lang="ru-RU" sz="3200" b="1" dirty="0">
                <a:solidFill>
                  <a:srgbClr val="007AFF"/>
                </a:solidFill>
              </a:rPr>
              <a:t>4</a:t>
            </a:r>
          </a:p>
        </p:txBody>
      </p:sp>
      <p:sp>
        <p:nvSpPr>
          <p:cNvPr id="45" name="Скругленный прямоугольник 17">
            <a:extLst>
              <a:ext uri="{FF2B5EF4-FFF2-40B4-BE49-F238E27FC236}">
                <a16:creationId xmlns:a16="http://schemas.microsoft.com/office/drawing/2014/main" id="{4A199481-2ED4-444A-B504-016F8D533A86}"/>
              </a:ext>
            </a:extLst>
          </p:cNvPr>
          <p:cNvSpPr/>
          <p:nvPr/>
        </p:nvSpPr>
        <p:spPr>
          <a:xfrm>
            <a:off x="8160190" y="4397310"/>
            <a:ext cx="2238999" cy="906782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Понятность (</a:t>
            </a:r>
            <a:r>
              <a:rPr lang="ru-RU" sz="1200" b="1" dirty="0" err="1">
                <a:solidFill>
                  <a:schemeClr val="tx1"/>
                </a:solidFill>
              </a:rPr>
              <a:t>Understandability</a:t>
            </a:r>
            <a:r>
              <a:rPr lang="ru-RU" sz="1200" b="1" dirty="0">
                <a:solidFill>
                  <a:schemeClr val="tx1"/>
                </a:solidFill>
              </a:rPr>
              <a:t>) </a:t>
            </a:r>
            <a:r>
              <a:rPr lang="ru-RU" sz="1200" dirty="0">
                <a:solidFill>
                  <a:schemeClr val="tx1"/>
                </a:solidFill>
              </a:rPr>
              <a:t>– ясность данных для конечного пользователя.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11D357-A1FC-4E92-9DEF-BAE56AFF422D}"/>
              </a:ext>
            </a:extLst>
          </p:cNvPr>
          <p:cNvSpPr txBox="1"/>
          <p:nvPr/>
        </p:nvSpPr>
        <p:spPr>
          <a:xfrm>
            <a:off x="7560173" y="4558309"/>
            <a:ext cx="77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AFF"/>
                </a:solidFill>
              </a:rPr>
              <a:t>1</a:t>
            </a:r>
            <a:r>
              <a:rPr lang="ru-RU" sz="3200" b="1" dirty="0">
                <a:solidFill>
                  <a:srgbClr val="007AFF"/>
                </a:solidFill>
              </a:rPr>
              <a:t>5</a:t>
            </a:r>
          </a:p>
        </p:txBody>
      </p:sp>
      <p:sp>
        <p:nvSpPr>
          <p:cNvPr id="47" name="Rectangle: Rounded Corners 20">
            <a:extLst>
              <a:ext uri="{FF2B5EF4-FFF2-40B4-BE49-F238E27FC236}">
                <a16:creationId xmlns:a16="http://schemas.microsoft.com/office/drawing/2014/main" id="{ACE2667C-2C98-48B5-8AE2-E8AC2B772980}"/>
              </a:ext>
            </a:extLst>
          </p:cNvPr>
          <p:cNvSpPr/>
          <p:nvPr/>
        </p:nvSpPr>
        <p:spPr>
          <a:xfrm flipV="1">
            <a:off x="1302242" y="5907772"/>
            <a:ext cx="9789032" cy="3405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2869893" y="5907773"/>
            <a:ext cx="7360921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2">
                    <a:lumMod val="25000"/>
                  </a:schemeClr>
                </a:solidFill>
              </a:rPr>
              <a:t>* </a:t>
            </a:r>
            <a:r>
              <a:rPr lang="it-IT" sz="1400" b="1" dirty="0">
                <a:solidFill>
                  <a:schemeClr val="bg2">
                    <a:lumMod val="25000"/>
                  </a:schemeClr>
                </a:solidFill>
              </a:rPr>
              <a:t>ISO/IEC 25012:2008 – </a:t>
            </a:r>
            <a:r>
              <a:rPr lang="ru-RU" sz="1400" b="1" dirty="0">
                <a:solidFill>
                  <a:schemeClr val="bg2">
                    <a:lumMod val="25000"/>
                  </a:schemeClr>
                </a:solidFill>
              </a:rPr>
              <a:t>Модель качества данных (</a:t>
            </a:r>
            <a:r>
              <a:rPr lang="it-IT" sz="1400" b="1" dirty="0">
                <a:solidFill>
                  <a:schemeClr val="bg2">
                    <a:lumMod val="25000"/>
                  </a:schemeClr>
                </a:solidFill>
              </a:rPr>
              <a:t>Data quality model</a:t>
            </a:r>
            <a:r>
              <a:rPr lang="ru-RU" sz="1400" b="1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6793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Предлагаемая иерархия видов документов по управлению пространственными данными для организаций-поставщиков данных во ФГИС ЕЦП НСПД</a:t>
            </a:r>
          </a:p>
        </p:txBody>
      </p:sp>
      <p:sp>
        <p:nvSpPr>
          <p:cNvPr id="34" name="Rectangle: Rounded Corners 23">
            <a:extLst>
              <a:ext uri="{FF2B5EF4-FFF2-40B4-BE49-F238E27FC236}">
                <a16:creationId xmlns:a16="http://schemas.microsoft.com/office/drawing/2014/main" id="{BF2F6BCB-B866-44CA-B148-00E8F41F627B}"/>
              </a:ext>
            </a:extLst>
          </p:cNvPr>
          <p:cNvSpPr/>
          <p:nvPr/>
        </p:nvSpPr>
        <p:spPr>
          <a:xfrm>
            <a:off x="2381255" y="1061212"/>
            <a:ext cx="6850936" cy="63796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4C4D4B"/>
                </a:solidFill>
                <a:cs typeface="Arial"/>
              </a:rPr>
              <a:t>Стратегия пространственных данных</a:t>
            </a:r>
          </a:p>
          <a:p>
            <a:pPr algn="ctr"/>
            <a:r>
              <a:rPr lang="ru-RU" sz="1050" dirty="0">
                <a:solidFill>
                  <a:srgbClr val="4C4D4B"/>
                </a:solidFill>
                <a:cs typeface="Arial"/>
              </a:rPr>
              <a:t>Видение, стратегические действия, цели</a:t>
            </a:r>
          </a:p>
        </p:txBody>
      </p:sp>
      <p:sp>
        <p:nvSpPr>
          <p:cNvPr id="66" name="Slide Number Placeholder 1">
            <a:extLst>
              <a:ext uri="{FF2B5EF4-FFF2-40B4-BE49-F238E27FC236}">
                <a16:creationId xmlns:a16="http://schemas.microsoft.com/office/drawing/2014/main" id="{1686559F-32EB-4701-B102-9F23F354B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492872"/>
            <a:ext cx="2743200" cy="365125"/>
          </a:xfrm>
        </p:spPr>
        <p:txBody>
          <a:bodyPr/>
          <a:lstStyle/>
          <a:p>
            <a:fld id="{2AEBC476-9252-C343-9FCE-489A77E2EA66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47" name="Rectangle: Rounded Corners 23">
            <a:extLst>
              <a:ext uri="{FF2B5EF4-FFF2-40B4-BE49-F238E27FC236}">
                <a16:creationId xmlns:a16="http://schemas.microsoft.com/office/drawing/2014/main" id="{BF2F6BCB-B866-44CA-B148-00E8F41F627B}"/>
              </a:ext>
            </a:extLst>
          </p:cNvPr>
          <p:cNvSpPr/>
          <p:nvPr/>
        </p:nvSpPr>
        <p:spPr>
          <a:xfrm>
            <a:off x="2661498" y="1792352"/>
            <a:ext cx="6290450" cy="72259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00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4C4D4B"/>
                </a:solidFill>
                <a:cs typeface="Arial"/>
              </a:rPr>
              <a:t>Политика управления пространственными данными</a:t>
            </a:r>
          </a:p>
          <a:p>
            <a:pPr algn="ctr"/>
            <a:r>
              <a:rPr lang="ru-RU" sz="1200" dirty="0">
                <a:solidFill>
                  <a:srgbClr val="4C4D4B"/>
                </a:solidFill>
                <a:cs typeface="Arial"/>
              </a:rPr>
              <a:t>Цели, задачи, принципы, участники, роли, обязанности, ответственность, высокоуровневое описание процессов по управлению ПД</a:t>
            </a:r>
          </a:p>
          <a:p>
            <a:pPr algn="ctr"/>
            <a:endParaRPr lang="ru-RU" sz="800" dirty="0">
              <a:solidFill>
                <a:srgbClr val="4C4D4B"/>
              </a:solidFill>
              <a:cs typeface="Arial"/>
            </a:endParaRPr>
          </a:p>
        </p:txBody>
      </p:sp>
      <p:sp>
        <p:nvSpPr>
          <p:cNvPr id="53" name="Rectangle: Rounded Corners 23">
            <a:extLst>
              <a:ext uri="{FF2B5EF4-FFF2-40B4-BE49-F238E27FC236}">
                <a16:creationId xmlns:a16="http://schemas.microsoft.com/office/drawing/2014/main" id="{BF2F6BCB-B866-44CA-B148-00E8F41F627B}"/>
              </a:ext>
            </a:extLst>
          </p:cNvPr>
          <p:cNvSpPr/>
          <p:nvPr/>
        </p:nvSpPr>
        <p:spPr>
          <a:xfrm>
            <a:off x="2921634" y="2608127"/>
            <a:ext cx="5770178" cy="90994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00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4C4D4B"/>
                </a:solidFill>
                <a:cs typeface="Arial"/>
              </a:rPr>
              <a:t>Регламент управления пространственными данными</a:t>
            </a:r>
          </a:p>
          <a:p>
            <a:pPr algn="ctr"/>
            <a:r>
              <a:rPr lang="ru-RU" sz="1200" dirty="0">
                <a:solidFill>
                  <a:srgbClr val="4C4D4B"/>
                </a:solidFill>
                <a:cs typeface="Arial"/>
              </a:rPr>
              <a:t>Порядок действий, роли, инструменты, детализированное описание процессов по управлению ПД, связь со стандартами, оценка эффективности процессов</a:t>
            </a:r>
          </a:p>
        </p:txBody>
      </p:sp>
      <p:sp>
        <p:nvSpPr>
          <p:cNvPr id="54" name="Rectangle: Rounded Corners 23">
            <a:extLst>
              <a:ext uri="{FF2B5EF4-FFF2-40B4-BE49-F238E27FC236}">
                <a16:creationId xmlns:a16="http://schemas.microsoft.com/office/drawing/2014/main" id="{BF2F6BCB-B866-44CA-B148-00E8F41F627B}"/>
              </a:ext>
            </a:extLst>
          </p:cNvPr>
          <p:cNvSpPr/>
          <p:nvPr/>
        </p:nvSpPr>
        <p:spPr>
          <a:xfrm>
            <a:off x="3168780" y="3621711"/>
            <a:ext cx="5275885" cy="11116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4C4D4B"/>
                </a:solidFill>
                <a:cs typeface="Arial"/>
              </a:rPr>
              <a:t>Национальные стандарты и стандарты организации в части управления пространственными данными</a:t>
            </a:r>
          </a:p>
          <a:p>
            <a:pPr algn="ctr"/>
            <a:r>
              <a:rPr lang="ru-RU" sz="1200" dirty="0">
                <a:solidFill>
                  <a:srgbClr val="4C4D4B"/>
                </a:solidFill>
                <a:cs typeface="Arial"/>
              </a:rPr>
              <a:t>Лучшие практики по повышению качества ПД, процессов обеспечения качества ПД и связанных аспектов</a:t>
            </a:r>
          </a:p>
          <a:p>
            <a:pPr algn="ctr"/>
            <a:endParaRPr lang="ru-RU" sz="800" dirty="0">
              <a:solidFill>
                <a:srgbClr val="4C4D4B"/>
              </a:solidFill>
              <a:cs typeface="Arial"/>
            </a:endParaRPr>
          </a:p>
        </p:txBody>
      </p:sp>
      <p:sp>
        <p:nvSpPr>
          <p:cNvPr id="58" name="Rectangle: Rounded Corners 23">
            <a:extLst>
              <a:ext uri="{FF2B5EF4-FFF2-40B4-BE49-F238E27FC236}">
                <a16:creationId xmlns:a16="http://schemas.microsoft.com/office/drawing/2014/main" id="{BF2F6BCB-B866-44CA-B148-00E8F41F627B}"/>
              </a:ext>
            </a:extLst>
          </p:cNvPr>
          <p:cNvSpPr/>
          <p:nvPr/>
        </p:nvSpPr>
        <p:spPr>
          <a:xfrm>
            <a:off x="3394598" y="4837017"/>
            <a:ext cx="4824248" cy="101415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C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rgbClr val="4C4D4B"/>
                </a:solidFill>
                <a:cs typeface="Arial"/>
              </a:rPr>
              <a:t>Руководства пользователя, методические рекомендации</a:t>
            </a:r>
          </a:p>
          <a:p>
            <a:pPr algn="ctr"/>
            <a:r>
              <a:rPr lang="ru-RU" sz="1200" dirty="0">
                <a:solidFill>
                  <a:srgbClr val="4C4D4B"/>
                </a:solidFill>
                <a:cs typeface="Arial"/>
              </a:rPr>
              <a:t>Подробные указания по выполнению конкретных задач при работе с ГИС</a:t>
            </a:r>
          </a:p>
          <a:p>
            <a:pPr algn="ctr"/>
            <a:endParaRPr lang="ru-RU" sz="800" dirty="0">
              <a:solidFill>
                <a:srgbClr val="4C4D4B"/>
              </a:solidFill>
              <a:cs typeface="Arial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>
            <a:off x="2005093" y="1049332"/>
            <a:ext cx="1156137" cy="4981969"/>
          </a:xfrm>
          <a:prstGeom prst="straightConnector1">
            <a:avLst/>
          </a:prstGeom>
          <a:ln w="539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Прямоугольник 17">
            <a:extLst>
              <a:ext uri="{FF2B5EF4-FFF2-40B4-BE49-F238E27FC236}">
                <a16:creationId xmlns:a16="http://schemas.microsoft.com/office/drawing/2014/main" id="{F4745F6B-20E2-436F-A4F6-93C58EC52712}"/>
              </a:ext>
            </a:extLst>
          </p:cNvPr>
          <p:cNvSpPr/>
          <p:nvPr/>
        </p:nvSpPr>
        <p:spPr>
          <a:xfrm>
            <a:off x="233114" y="1172331"/>
            <a:ext cx="1814761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2060"/>
              </a:buClr>
            </a:pPr>
            <a:r>
              <a:rPr lang="ru-RU" sz="1400" b="1" spc="-20" dirty="0">
                <a:solidFill>
                  <a:schemeClr val="accent1"/>
                </a:solidFill>
                <a:latin typeface="Arial"/>
                <a:cs typeface="Arial"/>
              </a:rPr>
              <a:t>Стратегический </a:t>
            </a:r>
            <a:br>
              <a:rPr lang="ru-RU" sz="1400" b="1" spc="-20" dirty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ru-RU" sz="1400" b="1" spc="-20" dirty="0">
                <a:solidFill>
                  <a:schemeClr val="accent1"/>
                </a:solidFill>
                <a:latin typeface="Arial"/>
                <a:cs typeface="Arial"/>
              </a:rPr>
              <a:t>фокус</a:t>
            </a:r>
            <a:endParaRPr lang="ru-RU" sz="1050" dirty="0">
              <a:solidFill>
                <a:schemeClr val="accent1"/>
              </a:solidFill>
            </a:endParaRPr>
          </a:p>
        </p:txBody>
      </p:sp>
      <p:sp>
        <p:nvSpPr>
          <p:cNvPr id="68" name="Прямоугольник 17">
            <a:extLst>
              <a:ext uri="{FF2B5EF4-FFF2-40B4-BE49-F238E27FC236}">
                <a16:creationId xmlns:a16="http://schemas.microsoft.com/office/drawing/2014/main" id="{F4745F6B-20E2-436F-A4F6-93C58EC52712}"/>
              </a:ext>
            </a:extLst>
          </p:cNvPr>
          <p:cNvSpPr/>
          <p:nvPr/>
        </p:nvSpPr>
        <p:spPr>
          <a:xfrm>
            <a:off x="826407" y="5516338"/>
            <a:ext cx="1677477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2060"/>
              </a:buClr>
            </a:pPr>
            <a:r>
              <a:rPr lang="ru-RU" sz="1400" b="1" spc="-20" dirty="0">
                <a:solidFill>
                  <a:schemeClr val="accent1"/>
                </a:solidFill>
                <a:latin typeface="Arial"/>
                <a:cs typeface="Arial"/>
              </a:rPr>
              <a:t>Операционный</a:t>
            </a:r>
            <a:br>
              <a:rPr lang="ru-RU" sz="1400" b="1" spc="-20" dirty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ru-RU" sz="1400" b="1" spc="-20" dirty="0">
                <a:solidFill>
                  <a:schemeClr val="accent1"/>
                </a:solidFill>
                <a:latin typeface="Arial"/>
                <a:cs typeface="Arial"/>
              </a:rPr>
              <a:t>фокус</a:t>
            </a:r>
            <a:endParaRPr lang="ru-RU" sz="1050" dirty="0">
              <a:solidFill>
                <a:schemeClr val="accent1"/>
              </a:solidFill>
            </a:endParaRPr>
          </a:p>
        </p:txBody>
      </p:sp>
      <p:cxnSp>
        <p:nvCxnSpPr>
          <p:cNvPr id="69" name="Прямая со стрелкой 68"/>
          <p:cNvCxnSpPr/>
          <p:nvPr/>
        </p:nvCxnSpPr>
        <p:spPr>
          <a:xfrm flipH="1">
            <a:off x="8444665" y="1027082"/>
            <a:ext cx="1137896" cy="4966793"/>
          </a:xfrm>
          <a:prstGeom prst="straightConnector1">
            <a:avLst/>
          </a:prstGeom>
          <a:ln w="539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Прямоугольник 17">
            <a:extLst>
              <a:ext uri="{FF2B5EF4-FFF2-40B4-BE49-F238E27FC236}">
                <a16:creationId xmlns:a16="http://schemas.microsoft.com/office/drawing/2014/main" id="{F4745F6B-20E2-436F-A4F6-93C58EC52712}"/>
              </a:ext>
            </a:extLst>
          </p:cNvPr>
          <p:cNvSpPr/>
          <p:nvPr/>
        </p:nvSpPr>
        <p:spPr>
          <a:xfrm>
            <a:off x="9681915" y="1119310"/>
            <a:ext cx="1814761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2060"/>
              </a:buClr>
            </a:pPr>
            <a:r>
              <a:rPr lang="ru-RU" sz="1400" b="1" spc="-20" dirty="0">
                <a:solidFill>
                  <a:schemeClr val="accent1"/>
                </a:solidFill>
                <a:latin typeface="Arial"/>
                <a:cs typeface="Arial"/>
              </a:rPr>
              <a:t>Высокоуровневое описание</a:t>
            </a:r>
            <a:endParaRPr lang="ru-RU" sz="1050" dirty="0">
              <a:solidFill>
                <a:schemeClr val="accent1"/>
              </a:solidFill>
            </a:endParaRPr>
          </a:p>
        </p:txBody>
      </p:sp>
      <p:sp>
        <p:nvSpPr>
          <p:cNvPr id="71" name="Прямоугольник 17">
            <a:extLst>
              <a:ext uri="{FF2B5EF4-FFF2-40B4-BE49-F238E27FC236}">
                <a16:creationId xmlns:a16="http://schemas.microsoft.com/office/drawing/2014/main" id="{F4745F6B-20E2-436F-A4F6-93C58EC52712}"/>
              </a:ext>
            </a:extLst>
          </p:cNvPr>
          <p:cNvSpPr/>
          <p:nvPr/>
        </p:nvSpPr>
        <p:spPr>
          <a:xfrm>
            <a:off x="9013613" y="5506239"/>
            <a:ext cx="1887663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2060"/>
              </a:buClr>
            </a:pPr>
            <a:r>
              <a:rPr lang="ru-RU" sz="1400" b="1" spc="-20" dirty="0">
                <a:solidFill>
                  <a:schemeClr val="accent1"/>
                </a:solidFill>
                <a:latin typeface="Arial"/>
                <a:cs typeface="Arial"/>
              </a:rPr>
              <a:t>Детализированное описание</a:t>
            </a:r>
            <a:endParaRPr lang="ru-RU" sz="1050" dirty="0">
              <a:solidFill>
                <a:schemeClr val="accent1"/>
              </a:solidFill>
            </a:endParaRPr>
          </a:p>
        </p:txBody>
      </p:sp>
      <p:sp>
        <p:nvSpPr>
          <p:cNvPr id="72" name="Знак запрета 62">
            <a:extLst>
              <a:ext uri="{FF2B5EF4-FFF2-40B4-BE49-F238E27FC236}">
                <a16:creationId xmlns:a16="http://schemas.microsoft.com/office/drawing/2014/main" id="{94EEC2E5-9ACC-45B6-9863-B4BAC03901CB}"/>
              </a:ext>
            </a:extLst>
          </p:cNvPr>
          <p:cNvSpPr/>
          <p:nvPr/>
        </p:nvSpPr>
        <p:spPr>
          <a:xfrm>
            <a:off x="2799713" y="2031729"/>
            <a:ext cx="243842" cy="243842"/>
          </a:xfrm>
          <a:prstGeom prst="noSmoking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tx1"/>
              </a:solidFill>
            </a:endParaRPr>
          </a:p>
        </p:txBody>
      </p:sp>
      <p:sp>
        <p:nvSpPr>
          <p:cNvPr id="73" name="Знак запрета 62">
            <a:extLst>
              <a:ext uri="{FF2B5EF4-FFF2-40B4-BE49-F238E27FC236}">
                <a16:creationId xmlns:a16="http://schemas.microsoft.com/office/drawing/2014/main" id="{94EEC2E5-9ACC-45B6-9863-B4BAC03901CB}"/>
              </a:ext>
            </a:extLst>
          </p:cNvPr>
          <p:cNvSpPr/>
          <p:nvPr/>
        </p:nvSpPr>
        <p:spPr>
          <a:xfrm>
            <a:off x="3043084" y="2693236"/>
            <a:ext cx="243842" cy="243842"/>
          </a:xfrm>
          <a:prstGeom prst="noSmoking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225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8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Виды документов по управлению пространственными данными для организаций-поставщиков данных во ФГИС ЕЦП НСПД и их аналоги</a:t>
            </a:r>
          </a:p>
        </p:txBody>
      </p:sp>
      <p:sp>
        <p:nvSpPr>
          <p:cNvPr id="14" name="Rectangle: Rounded Corners 2">
            <a:extLst>
              <a:ext uri="{FF2B5EF4-FFF2-40B4-BE49-F238E27FC236}">
                <a16:creationId xmlns:a16="http://schemas.microsoft.com/office/drawing/2014/main" id="{230B478F-1BFF-4472-A4A3-23F7610FCD4A}"/>
              </a:ext>
            </a:extLst>
          </p:cNvPr>
          <p:cNvSpPr/>
          <p:nvPr/>
        </p:nvSpPr>
        <p:spPr>
          <a:xfrm>
            <a:off x="466569" y="962325"/>
            <a:ext cx="11175999" cy="1907345"/>
          </a:xfrm>
          <a:prstGeom prst="roundRect">
            <a:avLst>
              <a:gd name="adj" fmla="val 19539"/>
            </a:avLst>
          </a:prstGeom>
          <a:gradFill flip="none" rotWithShape="1">
            <a:gsLst>
              <a:gs pos="56800">
                <a:srgbClr val="00B0F0"/>
              </a:gs>
              <a:gs pos="0">
                <a:schemeClr val="tx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44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378421"/>
              </p:ext>
            </p:extLst>
          </p:nvPr>
        </p:nvGraphicFramePr>
        <p:xfrm>
          <a:off x="466568" y="908985"/>
          <a:ext cx="11175999" cy="555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9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5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Вид документов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Международные аналоги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Российские</a:t>
                      </a:r>
                      <a:r>
                        <a:rPr lang="ru-RU" baseline="0" dirty="0"/>
                        <a:t> аналоги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Стратегия пространственных данных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32" rtl="0" eaLnBrk="1" latinLnBrk="0" hangingPunct="1"/>
                      <a:r>
                        <a:rPr lang="en-US" sz="1400" b="1" kern="120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USA:</a:t>
                      </a:r>
                      <a:r>
                        <a:rPr lang="en-US" sz="1400" b="1" kern="1200" baseline="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Geospatial</a:t>
                      </a:r>
                      <a:r>
                        <a:rPr lang="en-US" sz="1400" b="1" kern="1200" baseline="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 Data Strategy (GDA)</a:t>
                      </a:r>
                    </a:p>
                    <a:p>
                      <a:pPr marL="0" algn="ctr" defTabSz="914332" rtl="0" eaLnBrk="1" latinLnBrk="0" hangingPunct="1"/>
                      <a:r>
                        <a:rPr lang="en-US" sz="1400" b="1" kern="120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EU: INSPIRE Directive" (Infrastructure for Spatial Information in Europe)</a:t>
                      </a:r>
                    </a:p>
                    <a:p>
                      <a:pPr marL="0" algn="ctr" defTabSz="914332" rtl="0" eaLnBrk="1" latinLnBrk="0" hangingPunct="1"/>
                      <a:r>
                        <a:rPr lang="en-US" sz="1400" b="1" kern="120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UK:</a:t>
                      </a:r>
                      <a:r>
                        <a:rPr lang="en-US" sz="1400" b="1" kern="1200" baseline="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 UK National Data Strategy</a:t>
                      </a:r>
                      <a:endParaRPr lang="ru-RU" sz="1400" b="1" kern="1200" baseline="0" dirty="0">
                        <a:solidFill>
                          <a:srgbClr val="008C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332" rtl="0" eaLnBrk="1" latinLnBrk="0" hangingPunct="1"/>
                      <a:r>
                        <a:rPr lang="en-US" sz="1400" b="1" kern="120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United Nations Integrated Geospatial Information Framework (UN-IGIF)</a:t>
                      </a:r>
                      <a:endParaRPr lang="ru-RU" sz="1400" b="1" kern="1200" dirty="0">
                        <a:solidFill>
                          <a:srgbClr val="008C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</a:t>
                      </a:r>
                      <a:r>
                        <a:rPr lang="ru-RU" sz="1400" kern="1200" baseline="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сфере ПД часть стратегии изложено в </a:t>
                      </a:r>
                      <a:r>
                        <a:rPr lang="ru-RU" sz="1400" b="1" kern="1200" baseline="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«Концепции НСПД». </a:t>
                      </a:r>
                      <a:r>
                        <a:rPr lang="ru-RU" sz="1400" kern="1200" baseline="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Есть близкие по смыслу документы, например, ПП РФ 2148. Но ничего не известно о стратегиях ПД на уровне организаций (скорее всего такие документы отсутствуют).</a:t>
                      </a:r>
                      <a:endParaRPr lang="ru-RU" sz="1400" kern="1200" dirty="0">
                        <a:solidFill>
                          <a:srgbClr val="4D4D4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Политика управления пространственными данными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32" rtl="0" eaLnBrk="1" latinLnBrk="0" hangingPunct="1"/>
                      <a:r>
                        <a:rPr lang="en-US" sz="1400" b="1" kern="120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USA:</a:t>
                      </a:r>
                      <a:r>
                        <a:rPr lang="en-US" sz="1400" b="1" kern="1200" baseline="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 Geospatial Policies and Standards (</a:t>
                      </a:r>
                      <a:r>
                        <a:rPr lang="ru-RU" sz="1400" b="1" kern="1200" baseline="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набор документов)</a:t>
                      </a:r>
                      <a:endParaRPr lang="ru-RU" sz="1400" b="1" kern="1200" dirty="0">
                        <a:solidFill>
                          <a:srgbClr val="008C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 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методических рекомендаций по организации системы управления пространственными данными государственных информационных систем-поставщиков данных в федеральную государственную географическую информационную систему «Единая цифровая платформа «Национальная система пространственных данных» (политика по управлению пространственными данными)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Регламент управления пространственными данными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32" rtl="0" eaLnBrk="1" latinLnBrk="0" hangingPunct="1"/>
                      <a:r>
                        <a:rPr lang="en-US" sz="1400" b="1" kern="120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USA:</a:t>
                      </a:r>
                      <a:r>
                        <a:rPr lang="en-US" sz="1400" b="1" kern="1200" baseline="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 Geospatial Policies and Standards (</a:t>
                      </a:r>
                      <a:r>
                        <a:rPr lang="ru-RU" sz="1400" b="1" kern="1200" baseline="0" dirty="0">
                          <a:solidFill>
                            <a:srgbClr val="008CFF"/>
                          </a:solidFill>
                          <a:latin typeface="+mn-lt"/>
                          <a:ea typeface="+mn-ea"/>
                          <a:cs typeface="+mn-cs"/>
                        </a:rPr>
                        <a:t>набор документов)</a:t>
                      </a:r>
                      <a:endParaRPr lang="ru-RU" sz="1400" b="1" kern="1200" dirty="0">
                        <a:solidFill>
                          <a:srgbClr val="008C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 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методических рекомендаций о регламенте (стандарте) управления пространственными данными государственных информационных систем-поставщиков пространственных данных в федеральную государственную географическую информационную систему «Единая цифровая платформа «Национальная система пространственных данных»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669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9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НПА регулирующие вопросы качества пространственных данных </a:t>
            </a:r>
            <a:br>
              <a:rPr lang="ru-RU" sz="2000" b="1" dirty="0">
                <a:solidFill>
                  <a:srgbClr val="007AFF"/>
                </a:solidFill>
              </a:rPr>
            </a:br>
            <a:r>
              <a:rPr lang="ru-RU" sz="2000" b="1" dirty="0">
                <a:solidFill>
                  <a:srgbClr val="007AFF"/>
                </a:solidFill>
              </a:rPr>
              <a:t>в Российской Федерации, часть 1</a:t>
            </a:r>
          </a:p>
        </p:txBody>
      </p:sp>
      <p:sp>
        <p:nvSpPr>
          <p:cNvPr id="14" name="Rectangle: Rounded Corners 2">
            <a:extLst>
              <a:ext uri="{FF2B5EF4-FFF2-40B4-BE49-F238E27FC236}">
                <a16:creationId xmlns:a16="http://schemas.microsoft.com/office/drawing/2014/main" id="{230B478F-1BFF-4472-A4A3-23F7610FCD4A}"/>
              </a:ext>
            </a:extLst>
          </p:cNvPr>
          <p:cNvSpPr/>
          <p:nvPr/>
        </p:nvSpPr>
        <p:spPr>
          <a:xfrm>
            <a:off x="466569" y="962325"/>
            <a:ext cx="11175999" cy="1907345"/>
          </a:xfrm>
          <a:prstGeom prst="roundRect">
            <a:avLst>
              <a:gd name="adj" fmla="val 19539"/>
            </a:avLst>
          </a:prstGeom>
          <a:gradFill flip="none" rotWithShape="1">
            <a:gsLst>
              <a:gs pos="56800">
                <a:srgbClr val="00B0F0"/>
              </a:gs>
              <a:gs pos="0">
                <a:schemeClr val="tx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44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503053"/>
              </p:ext>
            </p:extLst>
          </p:nvPr>
        </p:nvGraphicFramePr>
        <p:xfrm>
          <a:off x="466568" y="962325"/>
          <a:ext cx="11176000" cy="5317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5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15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документа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Выдержка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041"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ПП РФ от 07.06.2022 № 1040 О федеральной государственной географической информационной системе «Единая цифровая платформа «Национальная система пространственных данных»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 Поставщики информации: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b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б)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обеспечивают полноту, актуальность и достоверность информации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обмен которой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осуществляется при информационном взаимодействии с системой, а также своевременность ее представления;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 Ответственность за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полноту, актуальность и достоверность информации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представляемой поставщиками информации и пользователями при информационном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взаимодействии с системой, а также своевременность ее представления несут поставщики информации и пользователи.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488"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ПП</a:t>
                      </a:r>
                      <a:r>
                        <a:rPr lang="ru-RU" sz="1400" b="1" kern="1200" baseline="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РФ от 01.12.2021 № 2148 "Об утверждении государственной программы Российской Федерации "Национальная система пространственных данных"</a:t>
                      </a:r>
                      <a:endParaRPr lang="ru-RU" sz="1400" b="1" kern="1200" dirty="0">
                        <a:solidFill>
                          <a:srgbClr val="4D4D4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Задачи государственного управления и обеспечения национальной безопасности Российской Федерации, способы их эффективного решения в сфере реализации Программы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а) в рамках достижения цели Программы "Повышение качества государственных услуг по осуществлению государственного кадастрового учета и (или) государственной регистрации прав, в том числе в связи с доступностью государственных услуг в электронном виде до 95 процентов к концу 2030 года" - осуществление комплекса мероприятий по реализации функций ответственного исполнителя Программы и иных мероприятий в сфере содействия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повышению качества государственных услуг и повышению качества пространственных данных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выполнение работ, оказание услуг федеральными государственными бюджетными учреждениями в рамках государственных заданий и иные мероприятия, обеспечение работоспособности цифровых сервисов и систем, мониторинг состояния и использования земель, создание инфраструктуры пространственных данных;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00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10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НПА регулирующие вопросы качества пространственных данных</a:t>
            </a:r>
            <a:br>
              <a:rPr lang="ru-RU" sz="2000" b="1" dirty="0">
                <a:solidFill>
                  <a:srgbClr val="007AFF"/>
                </a:solidFill>
              </a:rPr>
            </a:br>
            <a:r>
              <a:rPr lang="ru-RU" sz="2000" b="1" dirty="0">
                <a:solidFill>
                  <a:srgbClr val="007AFF"/>
                </a:solidFill>
              </a:rPr>
              <a:t>в Российской Федерации, часть 2</a:t>
            </a:r>
          </a:p>
        </p:txBody>
      </p:sp>
      <p:sp>
        <p:nvSpPr>
          <p:cNvPr id="14" name="Rectangle: Rounded Corners 2">
            <a:extLst>
              <a:ext uri="{FF2B5EF4-FFF2-40B4-BE49-F238E27FC236}">
                <a16:creationId xmlns:a16="http://schemas.microsoft.com/office/drawing/2014/main" id="{230B478F-1BFF-4472-A4A3-23F7610FCD4A}"/>
              </a:ext>
            </a:extLst>
          </p:cNvPr>
          <p:cNvSpPr/>
          <p:nvPr/>
        </p:nvSpPr>
        <p:spPr>
          <a:xfrm>
            <a:off x="466569" y="962325"/>
            <a:ext cx="11175999" cy="1907345"/>
          </a:xfrm>
          <a:prstGeom prst="roundRect">
            <a:avLst>
              <a:gd name="adj" fmla="val 19539"/>
            </a:avLst>
          </a:prstGeom>
          <a:gradFill flip="none" rotWithShape="1">
            <a:gsLst>
              <a:gs pos="56800">
                <a:srgbClr val="00B0F0"/>
              </a:gs>
              <a:gs pos="0">
                <a:schemeClr val="tx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44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511572"/>
              </p:ext>
            </p:extLst>
          </p:nvPr>
        </p:nvGraphicFramePr>
        <p:xfrm>
          <a:off x="466568" y="962325"/>
          <a:ext cx="11176000" cy="4978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5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15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документа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Выдержка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041"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 СТРАТЕГИИ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развития сферы геодезии, картографии, пространственных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данных и использования геоинформационных технологий до 2030 года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на перспективу до 2036 года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Совершенствование нормативного правового регулирования сферы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геодезии, картографии, пространственных данных и геоинформационных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технологий должно обеспечиваться прежде всего в части: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эффективного функционирования системы обеспечения качества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подтверждения достоверности различных видов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пространственных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данных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как помещаемых в государственные информационные системы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информационные ресурсы, так и свободно распространяемых видов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пространственных данных;</a:t>
                      </a:r>
                    </a:p>
                    <a:p>
                      <a:pPr marL="0" algn="l" defTabSz="914332" rtl="0" eaLnBrk="1" latinLnBrk="0" hangingPunct="1"/>
                      <a:endParaRPr lang="ru-RU" sz="1400" kern="1200" dirty="0">
                        <a:solidFill>
                          <a:srgbClr val="4D4D4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32" rtl="0" eaLnBrk="1" latinLnBrk="0" hangingPunct="1"/>
                      <a:r>
                        <a:rPr lang="en-US" sz="1400" i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P.S. </a:t>
                      </a:r>
                      <a:r>
                        <a:rPr lang="ru-RU" sz="1400" i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Ранее Росреестру были даны предложения в Стратегию в части обеспечения качества пространственных</a:t>
                      </a:r>
                      <a:r>
                        <a:rPr lang="ru-RU" sz="1400" i="1" kern="1200" baseline="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данных.</a:t>
                      </a:r>
                      <a:endParaRPr lang="ru-RU" sz="1400" i="1" kern="1200" dirty="0">
                        <a:solidFill>
                          <a:srgbClr val="4D4D4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488"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98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11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Пример закрепления ответственности по использованию методических рекомендаций, часть 1</a:t>
            </a:r>
          </a:p>
        </p:txBody>
      </p:sp>
      <p:sp>
        <p:nvSpPr>
          <p:cNvPr id="14" name="Rectangle: Rounded Corners 2">
            <a:extLst>
              <a:ext uri="{FF2B5EF4-FFF2-40B4-BE49-F238E27FC236}">
                <a16:creationId xmlns:a16="http://schemas.microsoft.com/office/drawing/2014/main" id="{230B478F-1BFF-4472-A4A3-23F7610FCD4A}"/>
              </a:ext>
            </a:extLst>
          </p:cNvPr>
          <p:cNvSpPr/>
          <p:nvPr/>
        </p:nvSpPr>
        <p:spPr>
          <a:xfrm>
            <a:off x="466569" y="962325"/>
            <a:ext cx="11175999" cy="1907345"/>
          </a:xfrm>
          <a:prstGeom prst="roundRect">
            <a:avLst>
              <a:gd name="adj" fmla="val 19539"/>
            </a:avLst>
          </a:prstGeom>
          <a:gradFill flip="none" rotWithShape="1">
            <a:gsLst>
              <a:gs pos="56800">
                <a:srgbClr val="00B0F0"/>
              </a:gs>
              <a:gs pos="0">
                <a:schemeClr val="tx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44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005328"/>
              </p:ext>
            </p:extLst>
          </p:nvPr>
        </p:nvGraphicFramePr>
        <p:xfrm>
          <a:off x="466568" y="962325"/>
          <a:ext cx="11176000" cy="5439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4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6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15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документа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Выдержка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041"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Постановление Правительства РФ от 16.12.2022 N 2338 (ред. от 08.09.2025) "Об утверждении Положения о единой цифровой платформе Российской Федерации "ГосТех", о внесении изменений в постановление Правительства Российской Федерации от 6 июля 2015 г. N 676 и признании утратившим силу пункта 6 изменений, которые вносятся в требования к порядку создания, развития, ввода в эксплуатацию, эксплуатации и вывода из эксплуатации государственных информационных систем и дальнейшего хранения содержащейся в их базах данных информации, утвержденных постановлением Правительства Российской Федерации от 11 мая 2017 г. N 555"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II. Назначение, цель и задачи создания платформы "ГосТех"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Платформа "ГосТех" предназначена для реализации процессов жизненного цикла государственных информационных систем в соответствии с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методическими документами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утверждаемыми президиумом Правительственной комиссии по цифровому развитию, использованию информационных технологий для улучшения качества жизни и условий ведения предпринимательской деятельности (далее - президиум Комиссии)</a:t>
                      </a:r>
                      <a:r>
                        <a:rPr lang="ru-RU" sz="1400" kern="1200" baseline="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…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… Критерии оценки целесообразности создания и развития государственных информационных систем на платформе "ГосТех" определяются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методическими рекомендациями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утверждаемыми президиумом Комиссии.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 Платформа "ГосТех" осуществляет следующие функции: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 н) обеспечение контроля соответствия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методическим рекомендациям 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вопросам функционирования платформы "ГосТех", утверждаемым президиумом Комиссии, и заявленным поставщиком платформы "ГосТех" функциональным возможностям цифрового продукта платформы "ГосТех";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 … Оператор платформы "ГосТех":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… осуществляет разработку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методических рекомендаций 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вопросам функционирования платформы "ГосТех";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 Пользователи платформы "ГосТех":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 Участники команды разработки: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…. руководствуются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методическими документами 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вопросам функционирования платформы "ГосТех";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425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12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Пример закрепления ответственности по использованию методических рекомендаций, часть 2</a:t>
            </a:r>
          </a:p>
        </p:txBody>
      </p:sp>
      <p:sp>
        <p:nvSpPr>
          <p:cNvPr id="14" name="Rectangle: Rounded Corners 2">
            <a:extLst>
              <a:ext uri="{FF2B5EF4-FFF2-40B4-BE49-F238E27FC236}">
                <a16:creationId xmlns:a16="http://schemas.microsoft.com/office/drawing/2014/main" id="{230B478F-1BFF-4472-A4A3-23F7610FCD4A}"/>
              </a:ext>
            </a:extLst>
          </p:cNvPr>
          <p:cNvSpPr/>
          <p:nvPr/>
        </p:nvSpPr>
        <p:spPr>
          <a:xfrm>
            <a:off x="466569" y="962325"/>
            <a:ext cx="11175999" cy="1907345"/>
          </a:xfrm>
          <a:prstGeom prst="roundRect">
            <a:avLst>
              <a:gd name="adj" fmla="val 19539"/>
            </a:avLst>
          </a:prstGeom>
          <a:gradFill flip="none" rotWithShape="1">
            <a:gsLst>
              <a:gs pos="56800">
                <a:srgbClr val="00B0F0"/>
              </a:gs>
              <a:gs pos="0">
                <a:schemeClr val="tx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44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653133"/>
              </p:ext>
            </p:extLst>
          </p:nvPr>
        </p:nvGraphicFramePr>
        <p:xfrm>
          <a:off x="466568" y="962325"/>
          <a:ext cx="11176000" cy="5013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6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15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документа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Выдержка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041"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Постановление Правительства РФ от 16.12.2022 N 2338 (ред. от 08.09.2025) "Об утверждении Положения о единой цифровой платформе Российской Федерации "ГосТех", о внесении изменений в постановление Правительства Российской Федерации от 6 июля 2015 г. N 676 и признании утратившим силу пункта 6 изменений, которые вносятся в требования к порядку создания, развития, ввода в эксплуатацию, эксплуатации и вывода из эксплуатации государственных информационных систем и дальнейшего хранения содержащейся в их базах данных информации, утвержденных постановлением Правительства Российской Федерации от 11 мая 2017 г. N 555"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Поставщики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платформы "ГосТех«: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б) обеспечивают соответствие цифровых продуктов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методическим рекомендациям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 вопросам функционирования платформы "ГосТех" для их включения в каталог цифровых продуктов платформы "ГосТех";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  <a:p>
                      <a:pPr marL="0" algn="l" defTabSz="914332" rtl="0" eaLnBrk="1" latinLnBrk="0" hangingPunct="1"/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д) руководствуются </a:t>
                      </a:r>
                      <a:r>
                        <a:rPr lang="ru-RU" sz="1400" b="1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методическими документами </a:t>
                      </a:r>
                      <a:r>
                        <a:rPr lang="ru-RU" sz="1400" kern="1200" dirty="0">
                          <a:solidFill>
                            <a:srgbClr val="4D4D4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вопросам функционирования платформы "ГосТех";</a:t>
                      </a:r>
                    </a:p>
                    <a:p>
                      <a:pPr marL="0" algn="l" defTabSz="914332" rtl="0" eaLnBrk="1" latinLnBrk="0" hangingPunct="1"/>
                      <a:endParaRPr lang="ru-RU" sz="1400" kern="1200" dirty="0">
                        <a:solidFill>
                          <a:srgbClr val="4D4D4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332" rtl="0" eaLnBrk="1" latinLnBrk="0" hangingPunct="1"/>
                      <a:endParaRPr lang="ru-RU" sz="1400" kern="1200" dirty="0">
                        <a:solidFill>
                          <a:srgbClr val="4D4D4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383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13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Выводы и предложения по регулирующим вопросы качества пространственных данных документам</a:t>
            </a:r>
          </a:p>
        </p:txBody>
      </p:sp>
      <p:sp>
        <p:nvSpPr>
          <p:cNvPr id="13" name="Скругленный прямоугольник 2">
            <a:extLst>
              <a:ext uri="{FF2B5EF4-FFF2-40B4-BE49-F238E27FC236}">
                <a16:creationId xmlns:a16="http://schemas.microsoft.com/office/drawing/2014/main" id="{CC5D2123-0BAD-4BB2-8605-208641ECFF0B}"/>
              </a:ext>
            </a:extLst>
          </p:cNvPr>
          <p:cNvSpPr/>
          <p:nvPr/>
        </p:nvSpPr>
        <p:spPr>
          <a:xfrm>
            <a:off x="1815380" y="1920494"/>
            <a:ext cx="8632126" cy="573286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Недостаточно зрелая нормативная правовая база для обеспечения качества пространственных данных на государственном уровне 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1">
            <a:extLst>
              <a:ext uri="{FF2B5EF4-FFF2-40B4-BE49-F238E27FC236}">
                <a16:creationId xmlns:a16="http://schemas.microsoft.com/office/drawing/2014/main" id="{F95B334A-9374-4A91-828D-746C59187E5B}"/>
              </a:ext>
            </a:extLst>
          </p:cNvPr>
          <p:cNvSpPr/>
          <p:nvPr/>
        </p:nvSpPr>
        <p:spPr>
          <a:xfrm>
            <a:off x="1815380" y="2743020"/>
            <a:ext cx="8628464" cy="514921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Существует практика закрепления ответственности по использованию методических рекомендаций на государственном уровне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AAAD0C68-371B-4180-8FAD-1D1F90D6AAB9}"/>
              </a:ext>
            </a:extLst>
          </p:cNvPr>
          <p:cNvSpPr/>
          <p:nvPr/>
        </p:nvSpPr>
        <p:spPr>
          <a:xfrm>
            <a:off x="4369326" y="1120031"/>
            <a:ext cx="3299807" cy="591820"/>
          </a:xfrm>
          <a:custGeom>
            <a:avLst/>
            <a:gdLst/>
            <a:ahLst/>
            <a:cxnLst/>
            <a:rect l="l" t="t" r="r" b="b"/>
            <a:pathLst>
              <a:path w="3432175" h="591819">
                <a:moveTo>
                  <a:pt x="3136392" y="0"/>
                </a:moveTo>
                <a:lnTo>
                  <a:pt x="295656" y="0"/>
                </a:lnTo>
                <a:lnTo>
                  <a:pt x="247699" y="3869"/>
                </a:lnTo>
                <a:lnTo>
                  <a:pt x="202206" y="15072"/>
                </a:lnTo>
                <a:lnTo>
                  <a:pt x="159786" y="33001"/>
                </a:lnTo>
                <a:lnTo>
                  <a:pt x="121046" y="57045"/>
                </a:lnTo>
                <a:lnTo>
                  <a:pt x="86596" y="86596"/>
                </a:lnTo>
                <a:lnTo>
                  <a:pt x="57045" y="121046"/>
                </a:lnTo>
                <a:lnTo>
                  <a:pt x="33001" y="159786"/>
                </a:lnTo>
                <a:lnTo>
                  <a:pt x="15072" y="202206"/>
                </a:lnTo>
                <a:lnTo>
                  <a:pt x="3869" y="247699"/>
                </a:lnTo>
                <a:lnTo>
                  <a:pt x="0" y="295655"/>
                </a:lnTo>
                <a:lnTo>
                  <a:pt x="3869" y="343612"/>
                </a:lnTo>
                <a:lnTo>
                  <a:pt x="15072" y="389105"/>
                </a:lnTo>
                <a:lnTo>
                  <a:pt x="33001" y="431525"/>
                </a:lnTo>
                <a:lnTo>
                  <a:pt x="57045" y="470265"/>
                </a:lnTo>
                <a:lnTo>
                  <a:pt x="86596" y="504715"/>
                </a:lnTo>
                <a:lnTo>
                  <a:pt x="121046" y="534266"/>
                </a:lnTo>
                <a:lnTo>
                  <a:pt x="159786" y="558310"/>
                </a:lnTo>
                <a:lnTo>
                  <a:pt x="202206" y="576239"/>
                </a:lnTo>
                <a:lnTo>
                  <a:pt x="247699" y="587442"/>
                </a:lnTo>
                <a:lnTo>
                  <a:pt x="295656" y="591311"/>
                </a:lnTo>
                <a:lnTo>
                  <a:pt x="3136392" y="591311"/>
                </a:lnTo>
                <a:lnTo>
                  <a:pt x="3184348" y="587442"/>
                </a:lnTo>
                <a:lnTo>
                  <a:pt x="3229841" y="576239"/>
                </a:lnTo>
                <a:lnTo>
                  <a:pt x="3272261" y="558310"/>
                </a:lnTo>
                <a:lnTo>
                  <a:pt x="3311001" y="534266"/>
                </a:lnTo>
                <a:lnTo>
                  <a:pt x="3345451" y="504715"/>
                </a:lnTo>
                <a:lnTo>
                  <a:pt x="3375002" y="470265"/>
                </a:lnTo>
                <a:lnTo>
                  <a:pt x="3399046" y="431525"/>
                </a:lnTo>
                <a:lnTo>
                  <a:pt x="3416975" y="389105"/>
                </a:lnTo>
                <a:lnTo>
                  <a:pt x="3428178" y="343612"/>
                </a:lnTo>
                <a:lnTo>
                  <a:pt x="3432048" y="295655"/>
                </a:lnTo>
                <a:lnTo>
                  <a:pt x="3428178" y="247699"/>
                </a:lnTo>
                <a:lnTo>
                  <a:pt x="3416975" y="202206"/>
                </a:lnTo>
                <a:lnTo>
                  <a:pt x="3399046" y="159786"/>
                </a:lnTo>
                <a:lnTo>
                  <a:pt x="3375002" y="121046"/>
                </a:lnTo>
                <a:lnTo>
                  <a:pt x="3345451" y="86596"/>
                </a:lnTo>
                <a:lnTo>
                  <a:pt x="3311001" y="57045"/>
                </a:lnTo>
                <a:lnTo>
                  <a:pt x="3272261" y="33001"/>
                </a:lnTo>
                <a:lnTo>
                  <a:pt x="3229841" y="15072"/>
                </a:lnTo>
                <a:lnTo>
                  <a:pt x="3184348" y="3869"/>
                </a:lnTo>
                <a:lnTo>
                  <a:pt x="3136392" y="0"/>
                </a:lnTo>
                <a:close/>
              </a:path>
            </a:pathLst>
          </a:custGeom>
          <a:solidFill>
            <a:srgbClr val="008C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5282106" y="1241031"/>
            <a:ext cx="1411681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ВЫВОДЫ</a:t>
            </a:r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F978E0E4-4A18-4391-9C79-43F261FD43BB}"/>
              </a:ext>
            </a:extLst>
          </p:cNvPr>
          <p:cNvSpPr txBox="1"/>
          <p:nvPr/>
        </p:nvSpPr>
        <p:spPr>
          <a:xfrm>
            <a:off x="3459881" y="732060"/>
            <a:ext cx="40328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46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ВЫЗОВ</a:t>
            </a:r>
          </a:p>
        </p:txBody>
      </p:sp>
      <p:pic>
        <p:nvPicPr>
          <p:cNvPr id="38" name="Graphic 76">
            <a:extLst>
              <a:ext uri="{FF2B5EF4-FFF2-40B4-BE49-F238E27FC236}">
                <a16:creationId xmlns:a16="http://schemas.microsoft.com/office/drawing/2014/main" id="{1CB51EB8-4CCB-4503-BFC5-EA9D0FBC4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1777" y="1256577"/>
            <a:ext cx="445560" cy="3226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7F5C5F3-09DB-468D-BF55-3E2A7F502E67}"/>
              </a:ext>
            </a:extLst>
          </p:cNvPr>
          <p:cNvSpPr txBox="1"/>
          <p:nvPr/>
        </p:nvSpPr>
        <p:spPr>
          <a:xfrm>
            <a:off x="1248099" y="1832851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5C5F3-09DB-468D-BF55-3E2A7F502E67}"/>
              </a:ext>
            </a:extLst>
          </p:cNvPr>
          <p:cNvSpPr txBox="1"/>
          <p:nvPr/>
        </p:nvSpPr>
        <p:spPr>
          <a:xfrm>
            <a:off x="1248098" y="2673166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2</a:t>
            </a:r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AAAD0C68-371B-4180-8FAD-1D1F90D6AAB9}"/>
              </a:ext>
            </a:extLst>
          </p:cNvPr>
          <p:cNvSpPr/>
          <p:nvPr/>
        </p:nvSpPr>
        <p:spPr>
          <a:xfrm>
            <a:off x="4369326" y="3476164"/>
            <a:ext cx="3299807" cy="591820"/>
          </a:xfrm>
          <a:custGeom>
            <a:avLst/>
            <a:gdLst/>
            <a:ahLst/>
            <a:cxnLst/>
            <a:rect l="l" t="t" r="r" b="b"/>
            <a:pathLst>
              <a:path w="3432175" h="591819">
                <a:moveTo>
                  <a:pt x="3136392" y="0"/>
                </a:moveTo>
                <a:lnTo>
                  <a:pt x="295656" y="0"/>
                </a:lnTo>
                <a:lnTo>
                  <a:pt x="247699" y="3869"/>
                </a:lnTo>
                <a:lnTo>
                  <a:pt x="202206" y="15072"/>
                </a:lnTo>
                <a:lnTo>
                  <a:pt x="159786" y="33001"/>
                </a:lnTo>
                <a:lnTo>
                  <a:pt x="121046" y="57045"/>
                </a:lnTo>
                <a:lnTo>
                  <a:pt x="86596" y="86596"/>
                </a:lnTo>
                <a:lnTo>
                  <a:pt x="57045" y="121046"/>
                </a:lnTo>
                <a:lnTo>
                  <a:pt x="33001" y="159786"/>
                </a:lnTo>
                <a:lnTo>
                  <a:pt x="15072" y="202206"/>
                </a:lnTo>
                <a:lnTo>
                  <a:pt x="3869" y="247699"/>
                </a:lnTo>
                <a:lnTo>
                  <a:pt x="0" y="295655"/>
                </a:lnTo>
                <a:lnTo>
                  <a:pt x="3869" y="343612"/>
                </a:lnTo>
                <a:lnTo>
                  <a:pt x="15072" y="389105"/>
                </a:lnTo>
                <a:lnTo>
                  <a:pt x="33001" y="431525"/>
                </a:lnTo>
                <a:lnTo>
                  <a:pt x="57045" y="470265"/>
                </a:lnTo>
                <a:lnTo>
                  <a:pt x="86596" y="504715"/>
                </a:lnTo>
                <a:lnTo>
                  <a:pt x="121046" y="534266"/>
                </a:lnTo>
                <a:lnTo>
                  <a:pt x="159786" y="558310"/>
                </a:lnTo>
                <a:lnTo>
                  <a:pt x="202206" y="576239"/>
                </a:lnTo>
                <a:lnTo>
                  <a:pt x="247699" y="587442"/>
                </a:lnTo>
                <a:lnTo>
                  <a:pt x="295656" y="591311"/>
                </a:lnTo>
                <a:lnTo>
                  <a:pt x="3136392" y="591311"/>
                </a:lnTo>
                <a:lnTo>
                  <a:pt x="3184348" y="587442"/>
                </a:lnTo>
                <a:lnTo>
                  <a:pt x="3229841" y="576239"/>
                </a:lnTo>
                <a:lnTo>
                  <a:pt x="3272261" y="558310"/>
                </a:lnTo>
                <a:lnTo>
                  <a:pt x="3311001" y="534266"/>
                </a:lnTo>
                <a:lnTo>
                  <a:pt x="3345451" y="504715"/>
                </a:lnTo>
                <a:lnTo>
                  <a:pt x="3375002" y="470265"/>
                </a:lnTo>
                <a:lnTo>
                  <a:pt x="3399046" y="431525"/>
                </a:lnTo>
                <a:lnTo>
                  <a:pt x="3416975" y="389105"/>
                </a:lnTo>
                <a:lnTo>
                  <a:pt x="3428178" y="343612"/>
                </a:lnTo>
                <a:lnTo>
                  <a:pt x="3432048" y="295655"/>
                </a:lnTo>
                <a:lnTo>
                  <a:pt x="3428178" y="247699"/>
                </a:lnTo>
                <a:lnTo>
                  <a:pt x="3416975" y="202206"/>
                </a:lnTo>
                <a:lnTo>
                  <a:pt x="3399046" y="159786"/>
                </a:lnTo>
                <a:lnTo>
                  <a:pt x="3375002" y="121046"/>
                </a:lnTo>
                <a:lnTo>
                  <a:pt x="3345451" y="86596"/>
                </a:lnTo>
                <a:lnTo>
                  <a:pt x="3311001" y="57045"/>
                </a:lnTo>
                <a:lnTo>
                  <a:pt x="3272261" y="33001"/>
                </a:lnTo>
                <a:lnTo>
                  <a:pt x="3229841" y="15072"/>
                </a:lnTo>
                <a:lnTo>
                  <a:pt x="3184348" y="3869"/>
                </a:lnTo>
                <a:lnTo>
                  <a:pt x="3136392" y="0"/>
                </a:lnTo>
                <a:close/>
              </a:path>
            </a:pathLst>
          </a:custGeom>
          <a:solidFill>
            <a:srgbClr val="008C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5282106" y="3597164"/>
            <a:ext cx="1737527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ПРЕДЛОЖЕНИЯ</a:t>
            </a:r>
          </a:p>
        </p:txBody>
      </p:sp>
      <p:pic>
        <p:nvPicPr>
          <p:cNvPr id="21" name="Graphic 76">
            <a:extLst>
              <a:ext uri="{FF2B5EF4-FFF2-40B4-BE49-F238E27FC236}">
                <a16:creationId xmlns:a16="http://schemas.microsoft.com/office/drawing/2014/main" id="{1CB51EB8-4CCB-4503-BFC5-EA9D0FBC4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1777" y="3612710"/>
            <a:ext cx="445560" cy="322647"/>
          </a:xfrm>
          <a:prstGeom prst="rect">
            <a:avLst/>
          </a:prstGeom>
        </p:spPr>
      </p:pic>
      <p:sp>
        <p:nvSpPr>
          <p:cNvPr id="22" name="Скругленный прямоугольник 2">
            <a:extLst>
              <a:ext uri="{FF2B5EF4-FFF2-40B4-BE49-F238E27FC236}">
                <a16:creationId xmlns:a16="http://schemas.microsoft.com/office/drawing/2014/main" id="{CC5D2123-0BAD-4BB2-8605-208641ECFF0B}"/>
              </a:ext>
            </a:extLst>
          </p:cNvPr>
          <p:cNvSpPr/>
          <p:nvPr/>
        </p:nvSpPr>
        <p:spPr>
          <a:xfrm>
            <a:off x="1811718" y="4302939"/>
            <a:ext cx="8632126" cy="573286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Разработка и актуализация стратегических и методических документов, регулирующих вопросы качества пространственных данных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11">
            <a:extLst>
              <a:ext uri="{FF2B5EF4-FFF2-40B4-BE49-F238E27FC236}">
                <a16:creationId xmlns:a16="http://schemas.microsoft.com/office/drawing/2014/main" id="{F95B334A-9374-4A91-828D-746C59187E5B}"/>
              </a:ext>
            </a:extLst>
          </p:cNvPr>
          <p:cNvSpPr/>
          <p:nvPr/>
        </p:nvSpPr>
        <p:spPr>
          <a:xfrm>
            <a:off x="1811718" y="5125465"/>
            <a:ext cx="8628464" cy="79575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Внесение изменений в ПП РФ № 1040 в части обязательности применения методических рекомендаций по обеспечению качества пространственных данных (включая национальные стандарты) на примере ПП РФ № 2338 (ГосТех)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F5C5F3-09DB-468D-BF55-3E2A7F502E67}"/>
              </a:ext>
            </a:extLst>
          </p:cNvPr>
          <p:cNvSpPr txBox="1"/>
          <p:nvPr/>
        </p:nvSpPr>
        <p:spPr>
          <a:xfrm>
            <a:off x="1244437" y="4215296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F5C5F3-09DB-468D-BF55-3E2A7F502E67}"/>
              </a:ext>
            </a:extLst>
          </p:cNvPr>
          <p:cNvSpPr txBox="1"/>
          <p:nvPr/>
        </p:nvSpPr>
        <p:spPr>
          <a:xfrm>
            <a:off x="1244436" y="5230956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45720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14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Основные блоки работ по внедрению и совершенствованию процессов повышения качества пространственных данных</a:t>
            </a:r>
          </a:p>
        </p:txBody>
      </p:sp>
      <p:sp>
        <p:nvSpPr>
          <p:cNvPr id="8" name="Скругленный прямоугольник 2">
            <a:extLst>
              <a:ext uri="{FF2B5EF4-FFF2-40B4-BE49-F238E27FC236}">
                <a16:creationId xmlns:a16="http://schemas.microsoft.com/office/drawing/2014/main" id="{CC5D2123-0BAD-4BB2-8605-208641ECFF0B}"/>
              </a:ext>
            </a:extLst>
          </p:cNvPr>
          <p:cNvSpPr/>
          <p:nvPr/>
        </p:nvSpPr>
        <p:spPr>
          <a:xfrm>
            <a:off x="2908588" y="1080863"/>
            <a:ext cx="2238999" cy="185216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Разработка необходимых документов в части управления пространственными данными – политики и регламента управления ПД</a:t>
            </a:r>
          </a:p>
        </p:txBody>
      </p:sp>
      <p:sp>
        <p:nvSpPr>
          <p:cNvPr id="10" name="Скругленный прямоугольник 11">
            <a:extLst>
              <a:ext uri="{FF2B5EF4-FFF2-40B4-BE49-F238E27FC236}">
                <a16:creationId xmlns:a16="http://schemas.microsoft.com/office/drawing/2014/main" id="{F95B334A-9374-4A91-828D-746C59187E5B}"/>
              </a:ext>
            </a:extLst>
          </p:cNvPr>
          <p:cNvSpPr/>
          <p:nvPr/>
        </p:nvSpPr>
        <p:spPr>
          <a:xfrm>
            <a:off x="7285830" y="1080863"/>
            <a:ext cx="2238999" cy="185216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Проведение анкетирования организаций-поставщиков данных во ФГИС ЕЦП НСПД согласно разработанным методикам</a:t>
            </a:r>
          </a:p>
        </p:txBody>
      </p:sp>
      <p:sp>
        <p:nvSpPr>
          <p:cNvPr id="11" name="Скругленный прямоугольник 12">
            <a:extLst>
              <a:ext uri="{FF2B5EF4-FFF2-40B4-BE49-F238E27FC236}">
                <a16:creationId xmlns:a16="http://schemas.microsoft.com/office/drawing/2014/main" id="{114532A8-F7BB-42AA-A0CA-5CA889AF7A7A}"/>
              </a:ext>
            </a:extLst>
          </p:cNvPr>
          <p:cNvSpPr/>
          <p:nvPr/>
        </p:nvSpPr>
        <p:spPr>
          <a:xfrm>
            <a:off x="7285830" y="3749179"/>
            <a:ext cx="2238999" cy="2227309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GAP </a:t>
            </a:r>
            <a:r>
              <a:rPr lang="ru-RU" sz="1400" dirty="0">
                <a:solidFill>
                  <a:schemeClr val="tx1"/>
                </a:solidFill>
              </a:rPr>
              <a:t>анализ результатов анкетирования и разработка проекта дорожной карты по совершенствованию процессов управления ПД, оргструктуры, ОРД и т.д.</a:t>
            </a:r>
          </a:p>
        </p:txBody>
      </p:sp>
      <p:sp>
        <p:nvSpPr>
          <p:cNvPr id="12" name="Скругленный прямоугольник 13">
            <a:extLst>
              <a:ext uri="{FF2B5EF4-FFF2-40B4-BE49-F238E27FC236}">
                <a16:creationId xmlns:a16="http://schemas.microsoft.com/office/drawing/2014/main" id="{5A253A79-26D3-47E0-B3BA-DAE204964947}"/>
              </a:ext>
            </a:extLst>
          </p:cNvPr>
          <p:cNvSpPr/>
          <p:nvPr/>
        </p:nvSpPr>
        <p:spPr>
          <a:xfrm>
            <a:off x="2907458" y="3743054"/>
            <a:ext cx="2238999" cy="223343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Методическое сопровождение и обучение представителей организаций-поставщиков данных во ФГИС ЕЦП НСПД аспектам работы с ПД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5C5F3-09DB-468D-BF55-3E2A7F502E67}"/>
              </a:ext>
            </a:extLst>
          </p:cNvPr>
          <p:cNvSpPr txBox="1"/>
          <p:nvPr/>
        </p:nvSpPr>
        <p:spPr>
          <a:xfrm>
            <a:off x="3451784" y="2868704"/>
            <a:ext cx="1152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1 </a:t>
            </a:r>
            <a:r>
              <a:rPr lang="ru-RU" sz="1800" b="1" dirty="0">
                <a:solidFill>
                  <a:srgbClr val="007AFF"/>
                </a:solidFill>
              </a:rPr>
              <a:t>блок</a:t>
            </a:r>
            <a:endParaRPr lang="ru-RU" sz="3200" b="1" dirty="0">
              <a:solidFill>
                <a:srgbClr val="007A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656772-88E0-4D02-87E7-940AEB1EC67C}"/>
              </a:ext>
            </a:extLst>
          </p:cNvPr>
          <p:cNvSpPr txBox="1"/>
          <p:nvPr/>
        </p:nvSpPr>
        <p:spPr>
          <a:xfrm>
            <a:off x="7829155" y="2868704"/>
            <a:ext cx="1203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2 </a:t>
            </a:r>
            <a:r>
              <a:rPr lang="ru-RU" sz="1800" b="1" dirty="0">
                <a:solidFill>
                  <a:srgbClr val="007AFF"/>
                </a:solidFill>
              </a:rPr>
              <a:t>блок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FF347F-5C2E-443C-B0EE-7BAB33E52ABA}"/>
              </a:ext>
            </a:extLst>
          </p:cNvPr>
          <p:cNvSpPr txBox="1"/>
          <p:nvPr/>
        </p:nvSpPr>
        <p:spPr>
          <a:xfrm>
            <a:off x="7922604" y="5939858"/>
            <a:ext cx="1152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3 </a:t>
            </a:r>
            <a:r>
              <a:rPr lang="ru-RU" sz="1800" b="1" dirty="0">
                <a:solidFill>
                  <a:srgbClr val="007AFF"/>
                </a:solidFill>
              </a:rPr>
              <a:t>блок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17720D-1098-4EF0-B1D3-1D32C40B2F47}"/>
              </a:ext>
            </a:extLst>
          </p:cNvPr>
          <p:cNvSpPr txBox="1"/>
          <p:nvPr/>
        </p:nvSpPr>
        <p:spPr>
          <a:xfrm>
            <a:off x="3450783" y="5932839"/>
            <a:ext cx="1129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4 </a:t>
            </a:r>
            <a:r>
              <a:rPr lang="ru-RU" sz="1800" b="1" dirty="0">
                <a:solidFill>
                  <a:srgbClr val="007AFF"/>
                </a:solidFill>
              </a:rPr>
              <a:t>блок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476" y="1797057"/>
            <a:ext cx="2539535" cy="253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26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15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Цели и задачи по внедрению и совершенствованию процессов повышения качества пространственных данных</a:t>
            </a:r>
          </a:p>
        </p:txBody>
      </p:sp>
      <p:sp>
        <p:nvSpPr>
          <p:cNvPr id="13" name="Скругленный прямоугольник 2">
            <a:extLst>
              <a:ext uri="{FF2B5EF4-FFF2-40B4-BE49-F238E27FC236}">
                <a16:creationId xmlns:a16="http://schemas.microsoft.com/office/drawing/2014/main" id="{CC5D2123-0BAD-4BB2-8605-208641ECFF0B}"/>
              </a:ext>
            </a:extLst>
          </p:cNvPr>
          <p:cNvSpPr/>
          <p:nvPr/>
        </p:nvSpPr>
        <p:spPr>
          <a:xfrm>
            <a:off x="3724842" y="3169683"/>
            <a:ext cx="2339962" cy="114714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Идентификация и устранение ключевых причин проблем качества ПД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1">
            <a:extLst>
              <a:ext uri="{FF2B5EF4-FFF2-40B4-BE49-F238E27FC236}">
                <a16:creationId xmlns:a16="http://schemas.microsoft.com/office/drawing/2014/main" id="{F95B334A-9374-4A91-828D-746C59187E5B}"/>
              </a:ext>
            </a:extLst>
          </p:cNvPr>
          <p:cNvSpPr/>
          <p:nvPr/>
        </p:nvSpPr>
        <p:spPr>
          <a:xfrm>
            <a:off x="2408018" y="1276257"/>
            <a:ext cx="2238999" cy="145172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Повышение доверия к данным благодаря прозрачности и документированности процессов обеспечения качества ПД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2">
            <a:extLst>
              <a:ext uri="{FF2B5EF4-FFF2-40B4-BE49-F238E27FC236}">
                <a16:creationId xmlns:a16="http://schemas.microsoft.com/office/drawing/2014/main" id="{114532A8-F7BB-42AA-A0CA-5CA889AF7A7A}"/>
              </a:ext>
            </a:extLst>
          </p:cNvPr>
          <p:cNvSpPr/>
          <p:nvPr/>
        </p:nvSpPr>
        <p:spPr>
          <a:xfrm>
            <a:off x="5280679" y="1276257"/>
            <a:ext cx="2238999" cy="145172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Увеличение ценности данных через постоянное совершенствование процессов, обеспечивающих повышение качества ПД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3">
            <a:extLst>
              <a:ext uri="{FF2B5EF4-FFF2-40B4-BE49-F238E27FC236}">
                <a16:creationId xmlns:a16="http://schemas.microsoft.com/office/drawing/2014/main" id="{5A253A79-26D3-47E0-B3BA-DAE204964947}"/>
              </a:ext>
            </a:extLst>
          </p:cNvPr>
          <p:cNvSpPr/>
          <p:nvPr/>
        </p:nvSpPr>
        <p:spPr>
          <a:xfrm>
            <a:off x="6597504" y="3169682"/>
            <a:ext cx="2238999" cy="115130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Определение требований к качеству ПД на протяжении их жизненного цикла 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1" name="Скругленный прямоугольник 14">
            <a:extLst>
              <a:ext uri="{FF2B5EF4-FFF2-40B4-BE49-F238E27FC236}">
                <a16:creationId xmlns:a16="http://schemas.microsoft.com/office/drawing/2014/main" id="{B0080F91-C6A0-4946-BA8F-6B450E865663}"/>
              </a:ext>
            </a:extLst>
          </p:cNvPr>
          <p:cNvSpPr/>
          <p:nvPr/>
        </p:nvSpPr>
        <p:spPr>
          <a:xfrm>
            <a:off x="948993" y="4487802"/>
            <a:ext cx="2339962" cy="165446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Разработка согласованного подхода к</a:t>
            </a: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обеспечению соответствия ПД</a:t>
            </a: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потребностям / требованиям потребителей</a:t>
            </a: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организации</a:t>
            </a:r>
          </a:p>
        </p:txBody>
      </p:sp>
      <p:sp>
        <p:nvSpPr>
          <p:cNvPr id="22" name="Скругленный прямоугольник 15">
            <a:extLst>
              <a:ext uri="{FF2B5EF4-FFF2-40B4-BE49-F238E27FC236}">
                <a16:creationId xmlns:a16="http://schemas.microsoft.com/office/drawing/2014/main" id="{8DC47297-2745-4A28-B165-D09F8655FDFF}"/>
              </a:ext>
            </a:extLst>
          </p:cNvPr>
          <p:cNvSpPr/>
          <p:nvPr/>
        </p:nvSpPr>
        <p:spPr>
          <a:xfrm>
            <a:off x="3724842" y="4526712"/>
            <a:ext cx="2339962" cy="165446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Разработка и внедрение проверок качества</a:t>
            </a: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ПД для мониторинга соответствия</a:t>
            </a: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требованиям (повышение качества ПД)</a:t>
            </a:r>
          </a:p>
        </p:txBody>
      </p:sp>
      <p:sp>
        <p:nvSpPr>
          <p:cNvPr id="23" name="Скругленный прямоугольник 16">
            <a:extLst>
              <a:ext uri="{FF2B5EF4-FFF2-40B4-BE49-F238E27FC236}">
                <a16:creationId xmlns:a16="http://schemas.microsoft.com/office/drawing/2014/main" id="{4C8930FF-BA7F-4F68-AA89-472CAB2910B0}"/>
              </a:ext>
            </a:extLst>
          </p:cNvPr>
          <p:cNvSpPr/>
          <p:nvPr/>
        </p:nvSpPr>
        <p:spPr>
          <a:xfrm>
            <a:off x="6597504" y="4494179"/>
            <a:ext cx="2238999" cy="1686997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Разработка и внедрение процессов</a:t>
            </a: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мониторинга и учета результатов выполнения</a:t>
            </a: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проверок качества ПД</a:t>
            </a:r>
          </a:p>
        </p:txBody>
      </p:sp>
      <p:sp>
        <p:nvSpPr>
          <p:cNvPr id="24" name="Скругленный прямоугольник 17">
            <a:extLst>
              <a:ext uri="{FF2B5EF4-FFF2-40B4-BE49-F238E27FC236}">
                <a16:creationId xmlns:a16="http://schemas.microsoft.com/office/drawing/2014/main" id="{4A199481-2ED4-444A-B504-016F8D533A86}"/>
              </a:ext>
            </a:extLst>
          </p:cNvPr>
          <p:cNvSpPr/>
          <p:nvPr/>
        </p:nvSpPr>
        <p:spPr>
          <a:xfrm>
            <a:off x="9369203" y="4494179"/>
            <a:ext cx="2466918" cy="1686996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Обеспечение своевременного выявления и</a:t>
            </a: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исправления ошибок в ПД для</a:t>
            </a: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поддержания их высокого качества посредством</a:t>
            </a:r>
          </a:p>
          <a:p>
            <a:pPr algn="ctr"/>
            <a:r>
              <a:rPr lang="ru-RU" sz="1200" dirty="0">
                <a:solidFill>
                  <a:schemeClr val="tx1"/>
                </a:solidFill>
              </a:rPr>
              <a:t>совершенствования систем и процессов</a:t>
            </a:r>
          </a:p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F5C5F3-09DB-468D-BF55-3E2A7F502E67}"/>
              </a:ext>
            </a:extLst>
          </p:cNvPr>
          <p:cNvSpPr txBox="1"/>
          <p:nvPr/>
        </p:nvSpPr>
        <p:spPr>
          <a:xfrm>
            <a:off x="3364011" y="3408975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656772-88E0-4D02-87E7-940AEB1EC67C}"/>
              </a:ext>
            </a:extLst>
          </p:cNvPr>
          <p:cNvSpPr txBox="1"/>
          <p:nvPr/>
        </p:nvSpPr>
        <p:spPr>
          <a:xfrm>
            <a:off x="6244537" y="3427263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FF347F-5C2E-443C-B0EE-7BAB33E52ABA}"/>
              </a:ext>
            </a:extLst>
          </p:cNvPr>
          <p:cNvSpPr txBox="1"/>
          <p:nvPr/>
        </p:nvSpPr>
        <p:spPr>
          <a:xfrm>
            <a:off x="1971278" y="1700965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8965AD-7013-4747-AEEE-E472BAFB6C73}"/>
              </a:ext>
            </a:extLst>
          </p:cNvPr>
          <p:cNvSpPr txBox="1"/>
          <p:nvPr/>
        </p:nvSpPr>
        <p:spPr>
          <a:xfrm>
            <a:off x="590295" y="4812942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FF9580-1F93-4946-9B9D-0B40BD684ABF}"/>
              </a:ext>
            </a:extLst>
          </p:cNvPr>
          <p:cNvSpPr txBox="1"/>
          <p:nvPr/>
        </p:nvSpPr>
        <p:spPr>
          <a:xfrm>
            <a:off x="3364012" y="4812943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B9BBF1-067E-4D9C-8B1A-301FA9521AAE}"/>
              </a:ext>
            </a:extLst>
          </p:cNvPr>
          <p:cNvSpPr txBox="1"/>
          <p:nvPr/>
        </p:nvSpPr>
        <p:spPr>
          <a:xfrm>
            <a:off x="6228545" y="4812943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11D357-A1FC-4E92-9DEF-BAE56AFF422D}"/>
              </a:ext>
            </a:extLst>
          </p:cNvPr>
          <p:cNvSpPr txBox="1"/>
          <p:nvPr/>
        </p:nvSpPr>
        <p:spPr>
          <a:xfrm>
            <a:off x="8990797" y="4812940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F347F-5C2E-443C-B0EE-7BAB33E52ABA}"/>
              </a:ext>
            </a:extLst>
          </p:cNvPr>
          <p:cNvSpPr txBox="1"/>
          <p:nvPr/>
        </p:nvSpPr>
        <p:spPr>
          <a:xfrm>
            <a:off x="4771815" y="1709733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2</a:t>
            </a:r>
          </a:p>
        </p:txBody>
      </p:sp>
      <p:sp>
        <p:nvSpPr>
          <p:cNvPr id="33" name="Скругленный прямоугольник 74">
            <a:extLst>
              <a:ext uri="{FF2B5EF4-FFF2-40B4-BE49-F238E27FC236}">
                <a16:creationId xmlns:a16="http://schemas.microsoft.com/office/drawing/2014/main" id="{DC1EFC91-37E7-440C-9A5B-8ED85C5560DD}"/>
              </a:ext>
            </a:extLst>
          </p:cNvPr>
          <p:cNvSpPr/>
          <p:nvPr/>
        </p:nvSpPr>
        <p:spPr>
          <a:xfrm>
            <a:off x="3724841" y="894356"/>
            <a:ext cx="5111661" cy="30686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bg1"/>
                </a:solidFill>
              </a:rPr>
              <a:t>ЦЕЛИ</a:t>
            </a:r>
          </a:p>
        </p:txBody>
      </p:sp>
      <p:sp>
        <p:nvSpPr>
          <p:cNvPr id="34" name="Скругленный прямоугольник 74">
            <a:extLst>
              <a:ext uri="{FF2B5EF4-FFF2-40B4-BE49-F238E27FC236}">
                <a16:creationId xmlns:a16="http://schemas.microsoft.com/office/drawing/2014/main" id="{DC1EFC91-37E7-440C-9A5B-8ED85C5560DD}"/>
              </a:ext>
            </a:extLst>
          </p:cNvPr>
          <p:cNvSpPr/>
          <p:nvPr/>
        </p:nvSpPr>
        <p:spPr>
          <a:xfrm>
            <a:off x="3724840" y="2789303"/>
            <a:ext cx="5111661" cy="30686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bg1"/>
                </a:solidFill>
              </a:rPr>
              <a:t>ЗАДАЧИ</a:t>
            </a:r>
          </a:p>
        </p:txBody>
      </p:sp>
      <p:sp>
        <p:nvSpPr>
          <p:cNvPr id="35" name="Скругленный прямоугольник 12">
            <a:extLst>
              <a:ext uri="{FF2B5EF4-FFF2-40B4-BE49-F238E27FC236}">
                <a16:creationId xmlns:a16="http://schemas.microsoft.com/office/drawing/2014/main" id="{114532A8-F7BB-42AA-A0CA-5CA889AF7A7A}"/>
              </a:ext>
            </a:extLst>
          </p:cNvPr>
          <p:cNvSpPr/>
          <p:nvPr/>
        </p:nvSpPr>
        <p:spPr>
          <a:xfrm>
            <a:off x="7952543" y="1276256"/>
            <a:ext cx="2238999" cy="1451728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  <a:prstDash val="sys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Повышение качества предоставляемых услуг за счет повышения качества пространственных данных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FF347F-5C2E-443C-B0EE-7BAB33E52ABA}"/>
              </a:ext>
            </a:extLst>
          </p:cNvPr>
          <p:cNvSpPr txBox="1"/>
          <p:nvPr/>
        </p:nvSpPr>
        <p:spPr>
          <a:xfrm>
            <a:off x="7519678" y="1709733"/>
            <a:ext cx="567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007A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34247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16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Предлагаемые шаги для внедрения и совершенствования процессов управления ПД  в организациях-поставщиках данных во ФГИС ЕЦП НСПД, часть 1</a:t>
            </a: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F978E0E4-4A18-4391-9C79-43F261FD43BB}"/>
              </a:ext>
            </a:extLst>
          </p:cNvPr>
          <p:cNvSpPr txBox="1"/>
          <p:nvPr/>
        </p:nvSpPr>
        <p:spPr>
          <a:xfrm>
            <a:off x="3459881" y="732060"/>
            <a:ext cx="40328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46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ВЫЗОВ</a:t>
            </a:r>
          </a:p>
        </p:txBody>
      </p:sp>
      <p:sp>
        <p:nvSpPr>
          <p:cNvPr id="2" name="Нашивка 1"/>
          <p:cNvSpPr/>
          <p:nvPr/>
        </p:nvSpPr>
        <p:spPr>
          <a:xfrm>
            <a:off x="625380" y="1144058"/>
            <a:ext cx="2828040" cy="82013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1012588" y="1264682"/>
            <a:ext cx="2073186" cy="578882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1. РАЗРАБОТКА ДОКУМЕНТОВ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621A718-EF87-4489-BF92-86F5867C3EC3}"/>
              </a:ext>
            </a:extLst>
          </p:cNvPr>
          <p:cNvSpPr/>
          <p:nvPr/>
        </p:nvSpPr>
        <p:spPr>
          <a:xfrm>
            <a:off x="555889" y="2204901"/>
            <a:ext cx="289753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Стратегических документов на различных уровнях управления данными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Политик управления ПД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Регламента управления ПД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Методики оценки зрелости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Анкет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Иные документы (методики, ОРД и т.п.)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Разработка требований к ПД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</p:txBody>
      </p:sp>
      <p:sp>
        <p:nvSpPr>
          <p:cNvPr id="13" name="Нашивка 12"/>
          <p:cNvSpPr/>
          <p:nvPr/>
        </p:nvSpPr>
        <p:spPr>
          <a:xfrm>
            <a:off x="3323018" y="1144058"/>
            <a:ext cx="2828040" cy="82013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3710226" y="1280818"/>
            <a:ext cx="2073186" cy="578882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2. СОГЛАСОВАНИЕ,</a:t>
            </a:r>
            <a:br>
              <a:rPr lang="ru-RU" sz="1400" b="1" dirty="0">
                <a:solidFill>
                  <a:schemeClr val="bg1"/>
                </a:solidFill>
              </a:rPr>
            </a:br>
            <a:r>
              <a:rPr lang="ru-RU" sz="1400" b="1" dirty="0">
                <a:solidFill>
                  <a:schemeClr val="bg1"/>
                </a:solidFill>
              </a:rPr>
              <a:t>ОБУЧЕНИЕ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621A718-EF87-4489-BF92-86F5867C3EC3}"/>
              </a:ext>
            </a:extLst>
          </p:cNvPr>
          <p:cNvSpPr/>
          <p:nvPr/>
        </p:nvSpPr>
        <p:spPr>
          <a:xfrm>
            <a:off x="3217393" y="2203994"/>
            <a:ext cx="289753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Определение экспериментальных организаций-поставщиков данных во ФГИС ЕЦП НСПД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Согласование и утверждение разработанных документов со всеми участниками пилотного проекта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Проведение обучения</a:t>
            </a:r>
          </a:p>
        </p:txBody>
      </p:sp>
      <p:sp>
        <p:nvSpPr>
          <p:cNvPr id="18" name="Нашивка 17"/>
          <p:cNvSpPr/>
          <p:nvPr/>
        </p:nvSpPr>
        <p:spPr>
          <a:xfrm>
            <a:off x="5984522" y="1129989"/>
            <a:ext cx="2828040" cy="82013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6427150" y="1369794"/>
            <a:ext cx="2073186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3. АНКЕТИРОВАНИЕ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621A718-EF87-4489-BF92-86F5867C3EC3}"/>
              </a:ext>
            </a:extLst>
          </p:cNvPr>
          <p:cNvSpPr/>
          <p:nvPr/>
        </p:nvSpPr>
        <p:spPr>
          <a:xfrm>
            <a:off x="5878897" y="2189925"/>
            <a:ext cx="289753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Организация заполнения анкет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Консультирование по заполнению анкет</a:t>
            </a:r>
          </a:p>
          <a:p>
            <a:endParaRPr lang="ru-RU" sz="1400" dirty="0">
              <a:solidFill>
                <a:srgbClr val="4C4D4B"/>
              </a:solidFill>
            </a:endParaRPr>
          </a:p>
        </p:txBody>
      </p:sp>
      <p:sp>
        <p:nvSpPr>
          <p:cNvPr id="23" name="Нашивка 22"/>
          <p:cNvSpPr/>
          <p:nvPr/>
        </p:nvSpPr>
        <p:spPr>
          <a:xfrm>
            <a:off x="8682160" y="1144058"/>
            <a:ext cx="2828040" cy="82013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4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9124788" y="1383863"/>
            <a:ext cx="2073186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4. СВОД И АНАЛИЗ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621A718-EF87-4489-BF92-86F5867C3EC3}"/>
              </a:ext>
            </a:extLst>
          </p:cNvPr>
          <p:cNvSpPr/>
          <p:nvPr/>
        </p:nvSpPr>
        <p:spPr>
          <a:xfrm>
            <a:off x="8576535" y="2203994"/>
            <a:ext cx="2897531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Свод полученных результатов анкетирования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Формирование паспорта организации-поставщика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Рейтингование по уровням зрелости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Подготовка отчетов</a:t>
            </a:r>
          </a:p>
          <a:p>
            <a:endParaRPr lang="ru-RU" sz="1400" dirty="0">
              <a:solidFill>
                <a:srgbClr val="4C4D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07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17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Предлагаемые шаги для внедрения и совершенствования процессов управления ПД  в организациях-поставщиках данных во ФГИС ЕЦП НСПД, часть 2</a:t>
            </a: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F978E0E4-4A18-4391-9C79-43F261FD43BB}"/>
              </a:ext>
            </a:extLst>
          </p:cNvPr>
          <p:cNvSpPr txBox="1"/>
          <p:nvPr/>
        </p:nvSpPr>
        <p:spPr>
          <a:xfrm>
            <a:off x="3459881" y="732060"/>
            <a:ext cx="40328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46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ВЫЗОВ</a:t>
            </a:r>
          </a:p>
        </p:txBody>
      </p:sp>
      <p:sp>
        <p:nvSpPr>
          <p:cNvPr id="2" name="Нашивка 1"/>
          <p:cNvSpPr/>
          <p:nvPr/>
        </p:nvSpPr>
        <p:spPr>
          <a:xfrm>
            <a:off x="693473" y="1083782"/>
            <a:ext cx="2828040" cy="82013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1083607" y="1323587"/>
            <a:ext cx="2073186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5. ПЛАНИРОВАНИЕ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621A718-EF87-4489-BF92-86F5867C3EC3}"/>
              </a:ext>
            </a:extLst>
          </p:cNvPr>
          <p:cNvSpPr/>
          <p:nvPr/>
        </p:nvSpPr>
        <p:spPr>
          <a:xfrm>
            <a:off x="623982" y="2144625"/>
            <a:ext cx="289753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План</a:t>
            </a:r>
            <a:r>
              <a:rPr lang="en-US" sz="1400" dirty="0">
                <a:solidFill>
                  <a:srgbClr val="4C4D4B"/>
                </a:solidFill>
              </a:rPr>
              <a:t>/</a:t>
            </a:r>
            <a:r>
              <a:rPr lang="ru-RU" sz="1400" dirty="0">
                <a:solidFill>
                  <a:srgbClr val="4C4D4B"/>
                </a:solidFill>
              </a:rPr>
              <a:t>факт </a:t>
            </a:r>
            <a:r>
              <a:rPr lang="en-US" sz="1400" dirty="0">
                <a:solidFill>
                  <a:srgbClr val="4C4D4B"/>
                </a:solidFill>
              </a:rPr>
              <a:t>(GAP) </a:t>
            </a:r>
            <a:r>
              <a:rPr lang="ru-RU" sz="1400" dirty="0">
                <a:solidFill>
                  <a:srgbClr val="4C4D4B"/>
                </a:solidFill>
              </a:rPr>
              <a:t>анализ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Определение возможностей для повышения уровня зрелости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Оценка готовности организации к изменениям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Разработка целевой модели архитектуры организации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Разработка дорожной карты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Согласование дорожной карты с заинтересованными лицами (Росреестр, ППК Роскадастр и иные)</a:t>
            </a:r>
          </a:p>
        </p:txBody>
      </p:sp>
      <p:sp>
        <p:nvSpPr>
          <p:cNvPr id="13" name="Нашивка 12"/>
          <p:cNvSpPr/>
          <p:nvPr/>
        </p:nvSpPr>
        <p:spPr>
          <a:xfrm>
            <a:off x="3391111" y="1083782"/>
            <a:ext cx="2828040" cy="82013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3755831" y="1323587"/>
            <a:ext cx="2349278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6. БЮДЖЕТИРОВАНИЕ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621A718-EF87-4489-BF92-86F5867C3EC3}"/>
              </a:ext>
            </a:extLst>
          </p:cNvPr>
          <p:cNvSpPr/>
          <p:nvPr/>
        </p:nvSpPr>
        <p:spPr>
          <a:xfrm>
            <a:off x="3285486" y="2143718"/>
            <a:ext cx="289753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Расчет бюджета проектов/инициатив по направлениям управления данными</a:t>
            </a:r>
            <a:endParaRPr lang="en-US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Приоритизация инициатив</a:t>
            </a:r>
            <a:endParaRPr lang="en-US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Защита бюджета</a:t>
            </a:r>
          </a:p>
        </p:txBody>
      </p:sp>
      <p:sp>
        <p:nvSpPr>
          <p:cNvPr id="18" name="Нашивка 17"/>
          <p:cNvSpPr/>
          <p:nvPr/>
        </p:nvSpPr>
        <p:spPr>
          <a:xfrm>
            <a:off x="6052615" y="1069713"/>
            <a:ext cx="2828040" cy="82013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6495243" y="1309518"/>
            <a:ext cx="2073186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7. ИМПЛЕМЕНТАЦИЯ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621A718-EF87-4489-BF92-86F5867C3EC3}"/>
              </a:ext>
            </a:extLst>
          </p:cNvPr>
          <p:cNvSpPr/>
          <p:nvPr/>
        </p:nvSpPr>
        <p:spPr>
          <a:xfrm>
            <a:off x="5946990" y="2129649"/>
            <a:ext cx="289753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Утверждение и внедрение необходимых НПА</a:t>
            </a:r>
            <a:r>
              <a:rPr lang="en-US" sz="1400" dirty="0">
                <a:solidFill>
                  <a:srgbClr val="4C4D4B"/>
                </a:solidFill>
              </a:rPr>
              <a:t>/</a:t>
            </a:r>
            <a:r>
              <a:rPr lang="ru-RU" sz="1400" dirty="0">
                <a:solidFill>
                  <a:srgbClr val="4C4D4B"/>
                </a:solidFill>
              </a:rPr>
              <a:t>НТД и ОРД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Изменение бизнес-архитектуры (процессов, оргструктуры и т.д.)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Изменение архитектуры ПД и приложений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Изменение технологической архитектуры</a:t>
            </a:r>
            <a:r>
              <a:rPr lang="en-US" sz="1400" dirty="0">
                <a:solidFill>
                  <a:srgbClr val="4C4D4B"/>
                </a:solidFill>
              </a:rPr>
              <a:t> (</a:t>
            </a:r>
            <a:r>
              <a:rPr lang="ru-RU" sz="1400" dirty="0">
                <a:solidFill>
                  <a:srgbClr val="4C4D4B"/>
                </a:solidFill>
              </a:rPr>
              <a:t>системное ПО, оборудование)</a:t>
            </a:r>
          </a:p>
        </p:txBody>
      </p:sp>
      <p:sp>
        <p:nvSpPr>
          <p:cNvPr id="23" name="Нашивка 22"/>
          <p:cNvSpPr/>
          <p:nvPr/>
        </p:nvSpPr>
        <p:spPr>
          <a:xfrm>
            <a:off x="8750253" y="1083782"/>
            <a:ext cx="2828040" cy="82013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4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9192881" y="1323587"/>
            <a:ext cx="2073186" cy="340519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chemeClr val="bg1"/>
                </a:solidFill>
              </a:rPr>
              <a:t>8. МОНИТОРИНГ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621A718-EF87-4489-BF92-86F5867C3EC3}"/>
              </a:ext>
            </a:extLst>
          </p:cNvPr>
          <p:cNvSpPr/>
          <p:nvPr/>
        </p:nvSpPr>
        <p:spPr>
          <a:xfrm>
            <a:off x="8644628" y="2143718"/>
            <a:ext cx="289753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Сбор обратной связи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Совершенствование НПА, НТД, ОРД и методик оценки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solidFill>
                <a:srgbClr val="4C4D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rgbClr val="4C4D4B"/>
                </a:solidFill>
              </a:rPr>
              <a:t>Принятие решение о повторении цикла внедрения и совершенствования процессов управления ПД</a:t>
            </a:r>
          </a:p>
          <a:p>
            <a:endParaRPr lang="ru-RU" sz="1400" dirty="0">
              <a:solidFill>
                <a:srgbClr val="4C4D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585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00FB1A1D-3142-4FD1-921E-A4DFB11DE01F}"/>
              </a:ext>
            </a:extLst>
          </p:cNvPr>
          <p:cNvSpPr/>
          <p:nvPr/>
        </p:nvSpPr>
        <p:spPr>
          <a:xfrm>
            <a:off x="432611" y="1146967"/>
            <a:ext cx="11374371" cy="5279613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18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Ожидаемые результаты и эффекты</a:t>
            </a:r>
          </a:p>
        </p:txBody>
      </p:sp>
      <p:sp>
        <p:nvSpPr>
          <p:cNvPr id="7" name="Скругленный прямоугольник 8">
            <a:extLst>
              <a:ext uri="{FF2B5EF4-FFF2-40B4-BE49-F238E27FC236}">
                <a16:creationId xmlns:a16="http://schemas.microsoft.com/office/drawing/2014/main" id="{70141483-2083-4994-BCC2-BB39BC32FA75}"/>
              </a:ext>
            </a:extLst>
          </p:cNvPr>
          <p:cNvSpPr/>
          <p:nvPr/>
        </p:nvSpPr>
        <p:spPr>
          <a:xfrm>
            <a:off x="3753031" y="2089626"/>
            <a:ext cx="1965161" cy="149313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Построена необходимая организационная структура для качественного управления ПД</a:t>
            </a:r>
            <a:endParaRPr lang="ru-RU" sz="1200" b="1" dirty="0"/>
          </a:p>
        </p:txBody>
      </p:sp>
      <p:sp>
        <p:nvSpPr>
          <p:cNvPr id="10" name="Скругленный прямоугольник 10">
            <a:extLst>
              <a:ext uri="{FF2B5EF4-FFF2-40B4-BE49-F238E27FC236}">
                <a16:creationId xmlns:a16="http://schemas.microsoft.com/office/drawing/2014/main" id="{26A7BE9A-C697-47AD-93CC-B48464558892}"/>
              </a:ext>
            </a:extLst>
          </p:cNvPr>
          <p:cNvSpPr/>
          <p:nvPr/>
        </p:nvSpPr>
        <p:spPr>
          <a:xfrm>
            <a:off x="934916" y="2100078"/>
            <a:ext cx="1965158" cy="149313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Согласовано единое видение целей, задач, принципов, ролей, функций, процессов, требований, организационной структуры, ОРД и т.д.</a:t>
            </a:r>
          </a:p>
        </p:txBody>
      </p:sp>
      <p:sp>
        <p:nvSpPr>
          <p:cNvPr id="11" name="Скругленный прямоугольник 11">
            <a:extLst>
              <a:ext uri="{FF2B5EF4-FFF2-40B4-BE49-F238E27FC236}">
                <a16:creationId xmlns:a16="http://schemas.microsoft.com/office/drawing/2014/main" id="{B555B049-4225-40BF-996F-1721E4C59FE7}"/>
              </a:ext>
            </a:extLst>
          </p:cNvPr>
          <p:cNvSpPr/>
          <p:nvPr/>
        </p:nvSpPr>
        <p:spPr>
          <a:xfrm>
            <a:off x="6704999" y="2100078"/>
            <a:ext cx="1965161" cy="149926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Внедрены необходимые </a:t>
            </a:r>
            <a:br>
              <a:rPr lang="ru-RU" sz="1200" dirty="0"/>
            </a:br>
            <a:r>
              <a:rPr lang="ru-RU" sz="1200" dirty="0"/>
              <a:t>ОРД и НТД для обеспечения управления ПД</a:t>
            </a:r>
            <a:endParaRPr lang="ru-RU" sz="1200" b="1" dirty="0"/>
          </a:p>
        </p:txBody>
      </p:sp>
      <p:sp>
        <p:nvSpPr>
          <p:cNvPr id="29" name="Скругленный прямоугольник 11">
            <a:extLst>
              <a:ext uri="{FF2B5EF4-FFF2-40B4-BE49-F238E27FC236}">
                <a16:creationId xmlns:a16="http://schemas.microsoft.com/office/drawing/2014/main" id="{CB71CFAF-7920-43A2-B0D1-A0F445822252}"/>
              </a:ext>
            </a:extLst>
          </p:cNvPr>
          <p:cNvSpPr/>
          <p:nvPr/>
        </p:nvSpPr>
        <p:spPr>
          <a:xfrm>
            <a:off x="9484001" y="2091368"/>
            <a:ext cx="1965161" cy="149226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Оценен уровень зрелости процессов управления ПД как есть и выработка Дорожной карты как должно быть</a:t>
            </a:r>
            <a:endParaRPr lang="ru-RU" sz="1200" b="1" dirty="0"/>
          </a:p>
        </p:txBody>
      </p:sp>
      <p:sp>
        <p:nvSpPr>
          <p:cNvPr id="34" name="Скругленный прямоугольник 74">
            <a:extLst>
              <a:ext uri="{FF2B5EF4-FFF2-40B4-BE49-F238E27FC236}">
                <a16:creationId xmlns:a16="http://schemas.microsoft.com/office/drawing/2014/main" id="{DC1EFC91-37E7-440C-9A5B-8ED85C5560DD}"/>
              </a:ext>
            </a:extLst>
          </p:cNvPr>
          <p:cNvSpPr/>
          <p:nvPr/>
        </p:nvSpPr>
        <p:spPr>
          <a:xfrm>
            <a:off x="3157591" y="1273512"/>
            <a:ext cx="5924413" cy="53165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bg1"/>
                </a:solidFill>
              </a:rPr>
              <a:t>ОЖИДАЕМЫЕ РЕЗУЛЬТАТЫ и ЭФФЕКТЫ</a:t>
            </a:r>
          </a:p>
        </p:txBody>
      </p:sp>
      <p:pic>
        <p:nvPicPr>
          <p:cNvPr id="45" name="Graphic 12">
            <a:extLst>
              <a:ext uri="{FF2B5EF4-FFF2-40B4-BE49-F238E27FC236}">
                <a16:creationId xmlns:a16="http://schemas.microsoft.com/office/drawing/2014/main" id="{55CEACD7-ACBA-43C9-8A0E-327314E2D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2695" y="1961094"/>
            <a:ext cx="380844" cy="393827"/>
          </a:xfrm>
          <a:prstGeom prst="rect">
            <a:avLst/>
          </a:prstGeom>
        </p:spPr>
      </p:pic>
      <p:pic>
        <p:nvPicPr>
          <p:cNvPr id="46" name="Graphic 12">
            <a:extLst>
              <a:ext uri="{FF2B5EF4-FFF2-40B4-BE49-F238E27FC236}">
                <a16:creationId xmlns:a16="http://schemas.microsoft.com/office/drawing/2014/main" id="{CA7F243E-CBB6-46A4-A12F-099045511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1691" y="1961094"/>
            <a:ext cx="380844" cy="393827"/>
          </a:xfrm>
          <a:prstGeom prst="rect">
            <a:avLst/>
          </a:prstGeom>
        </p:spPr>
      </p:pic>
      <p:pic>
        <p:nvPicPr>
          <p:cNvPr id="47" name="Graphic 12">
            <a:extLst>
              <a:ext uri="{FF2B5EF4-FFF2-40B4-BE49-F238E27FC236}">
                <a16:creationId xmlns:a16="http://schemas.microsoft.com/office/drawing/2014/main" id="{57F305C8-CDA5-4D90-AD3E-5C87AB68E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7882" y="1961094"/>
            <a:ext cx="380844" cy="393827"/>
          </a:xfrm>
          <a:prstGeom prst="rect">
            <a:avLst/>
          </a:prstGeom>
        </p:spPr>
      </p:pic>
      <p:pic>
        <p:nvPicPr>
          <p:cNvPr id="48" name="Graphic 12">
            <a:extLst>
              <a:ext uri="{FF2B5EF4-FFF2-40B4-BE49-F238E27FC236}">
                <a16:creationId xmlns:a16="http://schemas.microsoft.com/office/drawing/2014/main" id="{FFED6729-E9D6-4B8A-8491-5253B5E07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320" y="1961093"/>
            <a:ext cx="380844" cy="393827"/>
          </a:xfrm>
          <a:prstGeom prst="rect">
            <a:avLst/>
          </a:prstGeom>
        </p:spPr>
      </p:pic>
      <p:sp>
        <p:nvSpPr>
          <p:cNvPr id="30" name="Скругленный прямоугольник 10">
            <a:extLst>
              <a:ext uri="{FF2B5EF4-FFF2-40B4-BE49-F238E27FC236}">
                <a16:creationId xmlns:a16="http://schemas.microsoft.com/office/drawing/2014/main" id="{26A7BE9A-C697-47AD-93CC-B48464558892}"/>
              </a:ext>
            </a:extLst>
          </p:cNvPr>
          <p:cNvSpPr/>
          <p:nvPr/>
        </p:nvSpPr>
        <p:spPr>
          <a:xfrm>
            <a:off x="934916" y="3996978"/>
            <a:ext cx="1965158" cy="165910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Разработан полный и связанный перечень документов по управлению ПД для организаций в части управления ПД</a:t>
            </a:r>
          </a:p>
        </p:txBody>
      </p:sp>
      <p:pic>
        <p:nvPicPr>
          <p:cNvPr id="42" name="Graphic 12">
            <a:extLst>
              <a:ext uri="{FF2B5EF4-FFF2-40B4-BE49-F238E27FC236}">
                <a16:creationId xmlns:a16="http://schemas.microsoft.com/office/drawing/2014/main" id="{FFED6729-E9D6-4B8A-8491-5253B5E07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320" y="3857993"/>
            <a:ext cx="380844" cy="393827"/>
          </a:xfrm>
          <a:prstGeom prst="rect">
            <a:avLst/>
          </a:prstGeom>
        </p:spPr>
      </p:pic>
      <p:sp>
        <p:nvSpPr>
          <p:cNvPr id="50" name="Скругленный прямоугольник 10">
            <a:extLst>
              <a:ext uri="{FF2B5EF4-FFF2-40B4-BE49-F238E27FC236}">
                <a16:creationId xmlns:a16="http://schemas.microsoft.com/office/drawing/2014/main" id="{26A7BE9A-C697-47AD-93CC-B48464558892}"/>
              </a:ext>
            </a:extLst>
          </p:cNvPr>
          <p:cNvSpPr/>
          <p:nvPr/>
        </p:nvSpPr>
        <p:spPr>
          <a:xfrm>
            <a:off x="3757478" y="4006206"/>
            <a:ext cx="1965158" cy="164987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Применены (внедрены) национальные стандарты и рекомендаций (лучшие практики) в сфере НСПД</a:t>
            </a:r>
          </a:p>
        </p:txBody>
      </p:sp>
      <p:pic>
        <p:nvPicPr>
          <p:cNvPr id="51" name="Graphic 12">
            <a:extLst>
              <a:ext uri="{FF2B5EF4-FFF2-40B4-BE49-F238E27FC236}">
                <a16:creationId xmlns:a16="http://schemas.microsoft.com/office/drawing/2014/main" id="{FFED6729-E9D6-4B8A-8491-5253B5E07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7882" y="3867221"/>
            <a:ext cx="380844" cy="393827"/>
          </a:xfrm>
          <a:prstGeom prst="rect">
            <a:avLst/>
          </a:prstGeom>
        </p:spPr>
      </p:pic>
      <p:sp>
        <p:nvSpPr>
          <p:cNvPr id="52" name="Скругленный прямоугольник 10">
            <a:extLst>
              <a:ext uri="{FF2B5EF4-FFF2-40B4-BE49-F238E27FC236}">
                <a16:creationId xmlns:a16="http://schemas.microsoft.com/office/drawing/2014/main" id="{26A7BE9A-C697-47AD-93CC-B48464558892}"/>
              </a:ext>
            </a:extLst>
          </p:cNvPr>
          <p:cNvSpPr/>
          <p:nvPr/>
        </p:nvSpPr>
        <p:spPr>
          <a:xfrm>
            <a:off x="6745026" y="4006206"/>
            <a:ext cx="1965158" cy="164987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Повышена квалификация сотрудников организаций-поставщиков данных во ФГИС ЕЦП НСПД</a:t>
            </a:r>
          </a:p>
        </p:txBody>
      </p:sp>
      <p:pic>
        <p:nvPicPr>
          <p:cNvPr id="53" name="Graphic 12">
            <a:extLst>
              <a:ext uri="{FF2B5EF4-FFF2-40B4-BE49-F238E27FC236}">
                <a16:creationId xmlns:a16="http://schemas.microsoft.com/office/drawing/2014/main" id="{FFED6729-E9D6-4B8A-8491-5253B5E07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430" y="3867221"/>
            <a:ext cx="380844" cy="393827"/>
          </a:xfrm>
          <a:prstGeom prst="rect">
            <a:avLst/>
          </a:prstGeom>
        </p:spPr>
      </p:pic>
      <p:sp>
        <p:nvSpPr>
          <p:cNvPr id="54" name="Скругленный прямоугольник 10">
            <a:extLst>
              <a:ext uri="{FF2B5EF4-FFF2-40B4-BE49-F238E27FC236}">
                <a16:creationId xmlns:a16="http://schemas.microsoft.com/office/drawing/2014/main" id="{26A7BE9A-C697-47AD-93CC-B48464558892}"/>
              </a:ext>
            </a:extLst>
          </p:cNvPr>
          <p:cNvSpPr/>
          <p:nvPr/>
        </p:nvSpPr>
        <p:spPr>
          <a:xfrm>
            <a:off x="9484001" y="4006206"/>
            <a:ext cx="1965158" cy="164987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Организована система управления ПД и процессов непрерывного мониторинга и повышения качества пространственных данных</a:t>
            </a:r>
          </a:p>
        </p:txBody>
      </p:sp>
      <p:pic>
        <p:nvPicPr>
          <p:cNvPr id="55" name="Graphic 12">
            <a:extLst>
              <a:ext uri="{FF2B5EF4-FFF2-40B4-BE49-F238E27FC236}">
                <a16:creationId xmlns:a16="http://schemas.microsoft.com/office/drawing/2014/main" id="{FFED6729-E9D6-4B8A-8491-5253B5E07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405" y="3867221"/>
            <a:ext cx="380844" cy="393827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176" y="5224627"/>
            <a:ext cx="697279" cy="697279"/>
          </a:xfrm>
          <a:prstGeom prst="rect">
            <a:avLst/>
          </a:prstGeom>
        </p:spPr>
      </p:pic>
      <p:sp>
        <p:nvSpPr>
          <p:cNvPr id="3" name="Плюс 2"/>
          <p:cNvSpPr/>
          <p:nvPr/>
        </p:nvSpPr>
        <p:spPr>
          <a:xfrm>
            <a:off x="3132400" y="2771192"/>
            <a:ext cx="319812" cy="34879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люс 23"/>
          <p:cNvSpPr/>
          <p:nvPr/>
        </p:nvSpPr>
        <p:spPr>
          <a:xfrm>
            <a:off x="6026666" y="2731288"/>
            <a:ext cx="319812" cy="34879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люс 24"/>
          <p:cNvSpPr/>
          <p:nvPr/>
        </p:nvSpPr>
        <p:spPr>
          <a:xfrm>
            <a:off x="3145818" y="4556862"/>
            <a:ext cx="319812" cy="34879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люс 25"/>
          <p:cNvSpPr/>
          <p:nvPr/>
        </p:nvSpPr>
        <p:spPr>
          <a:xfrm>
            <a:off x="8883468" y="2720509"/>
            <a:ext cx="319812" cy="34879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люс 26"/>
          <p:cNvSpPr/>
          <p:nvPr/>
        </p:nvSpPr>
        <p:spPr>
          <a:xfrm>
            <a:off x="6013267" y="4556862"/>
            <a:ext cx="319812" cy="34879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Равно 3"/>
          <p:cNvSpPr/>
          <p:nvPr/>
        </p:nvSpPr>
        <p:spPr>
          <a:xfrm>
            <a:off x="8841092" y="4605998"/>
            <a:ext cx="449227" cy="24930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286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/>
          <p:cNvSpPr/>
          <p:nvPr/>
        </p:nvSpPr>
        <p:spPr>
          <a:xfrm>
            <a:off x="3571408" y="1063304"/>
            <a:ext cx="4345758" cy="5230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ru-RU" sz="1800" b="1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Единая система </a:t>
            </a:r>
            <a:br>
              <a:rPr lang="ru-RU" sz="1800" b="1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800" b="1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управления </a:t>
            </a:r>
            <a:br>
              <a:rPr lang="ru-RU" sz="1800" b="1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800" b="1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пространственными</a:t>
            </a:r>
            <a:br>
              <a:rPr lang="ru-RU" sz="1800" b="1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800" b="1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данными</a:t>
            </a:r>
          </a:p>
          <a:p>
            <a:pPr algn="ctr"/>
            <a:endParaRPr lang="ru-RU" sz="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ru-RU" sz="1600" b="1" dirty="0">
                <a:ln w="0"/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Организационные </a:t>
            </a:r>
            <a:br>
              <a:rPr lang="ru-RU" sz="1600" b="1" dirty="0">
                <a:ln w="0"/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600" b="1" dirty="0">
                <a:ln w="0"/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 административные процессы:</a:t>
            </a:r>
          </a:p>
          <a:p>
            <a:pPr algn="ctr"/>
            <a:endParaRPr lang="ru-RU" sz="1600" b="1" dirty="0">
              <a:ln w="0"/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sz="1800" b="1" dirty="0">
              <a:ln w="0"/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19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rgbClr val="007AFF"/>
                </a:solidFill>
              </a:rPr>
              <a:t>Структура и содержание Единой системы управления пространственными данными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008" y="1286540"/>
            <a:ext cx="1461029" cy="1461029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734" y="4445830"/>
            <a:ext cx="1488083" cy="1488083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474" y="1172182"/>
            <a:ext cx="1538738" cy="1538738"/>
          </a:xfrm>
          <a:prstGeom prst="rect">
            <a:avLst/>
          </a:prstGeom>
        </p:spPr>
      </p:pic>
      <p:sp>
        <p:nvSpPr>
          <p:cNvPr id="20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8597955" y="1063304"/>
            <a:ext cx="3110135" cy="1055608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bg2">
                    <a:lumMod val="25000"/>
                  </a:schemeClr>
                </a:solidFill>
              </a:rPr>
              <a:t>Организационная структура</a:t>
            </a:r>
          </a:p>
          <a:p>
            <a:r>
              <a:rPr lang="ru-RU" sz="1400" b="1" dirty="0">
                <a:solidFill>
                  <a:schemeClr val="tx2"/>
                </a:solidFill>
              </a:rPr>
              <a:t>обеспечивающая функционирования системы управления ПД</a:t>
            </a:r>
          </a:p>
        </p:txBody>
      </p:sp>
      <p:sp>
        <p:nvSpPr>
          <p:cNvPr id="21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8730935" y="4445830"/>
            <a:ext cx="2073186" cy="1055608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bg2">
                    <a:lumMod val="25000"/>
                  </a:schemeClr>
                </a:solidFill>
              </a:rPr>
              <a:t>Процессы системы управления ПД </a:t>
            </a:r>
            <a:r>
              <a:rPr lang="ru-RU" sz="1400" b="1" dirty="0">
                <a:solidFill>
                  <a:schemeClr val="tx2"/>
                </a:solidFill>
              </a:rPr>
              <a:t>выполняемые над объектами данных</a:t>
            </a:r>
          </a:p>
        </p:txBody>
      </p:sp>
      <p:sp>
        <p:nvSpPr>
          <p:cNvPr id="22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140692" y="4582271"/>
            <a:ext cx="2828042" cy="1055608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bg2">
                    <a:lumMod val="25000"/>
                  </a:schemeClr>
                </a:solidFill>
              </a:rPr>
              <a:t>Пространственные данные</a:t>
            </a:r>
          </a:p>
          <a:p>
            <a:r>
              <a:rPr lang="ru-RU" sz="1400" b="1" dirty="0">
                <a:solidFill>
                  <a:schemeClr val="tx2"/>
                </a:solidFill>
              </a:rPr>
              <a:t>производимые </a:t>
            </a:r>
            <a:br>
              <a:rPr lang="ru-RU" sz="1400" b="1" dirty="0">
                <a:solidFill>
                  <a:schemeClr val="tx2"/>
                </a:solidFill>
              </a:rPr>
            </a:br>
            <a:r>
              <a:rPr lang="ru-RU" sz="1400" b="1" dirty="0">
                <a:solidFill>
                  <a:schemeClr val="tx2"/>
                </a:solidFill>
              </a:rPr>
              <a:t>и передаваемые во ФГИС ЕЦП НСПД</a:t>
            </a:r>
          </a:p>
        </p:txBody>
      </p:sp>
      <p:sp>
        <p:nvSpPr>
          <p:cNvPr id="23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114695" y="1172182"/>
            <a:ext cx="2798313" cy="1055608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bg2">
                    <a:lumMod val="25000"/>
                  </a:schemeClr>
                </a:solidFill>
              </a:rPr>
              <a:t>НПА, НТД, ОРД</a:t>
            </a:r>
          </a:p>
          <a:p>
            <a:r>
              <a:rPr lang="ru-RU" sz="1400" b="1" dirty="0">
                <a:solidFill>
                  <a:schemeClr val="tx2"/>
                </a:solidFill>
              </a:rPr>
              <a:t>применяемые для обеспечения качества процессов управления ПД</a:t>
            </a:r>
          </a:p>
        </p:txBody>
      </p:sp>
      <p:sp>
        <p:nvSpPr>
          <p:cNvPr id="24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840683" y="2233671"/>
            <a:ext cx="2128051" cy="1940957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ru-RU" sz="1200" dirty="0"/>
              <a:t>- политика и регламент </a:t>
            </a:r>
          </a:p>
          <a:p>
            <a:r>
              <a:rPr lang="ru-RU" sz="1200" dirty="0"/>
              <a:t>управления ПД (цели, принципы, задачи и т.д.)</a:t>
            </a:r>
          </a:p>
          <a:p>
            <a:r>
              <a:rPr lang="ru-RU" sz="1200" dirty="0"/>
              <a:t>- стандарты и методические рекомендации</a:t>
            </a:r>
          </a:p>
          <a:p>
            <a:r>
              <a:rPr lang="ru-RU" sz="1200" dirty="0"/>
              <a:t>- анкеты самообследования</a:t>
            </a:r>
          </a:p>
          <a:p>
            <a:r>
              <a:rPr lang="ru-RU" sz="1200" dirty="0"/>
              <a:t>…</a:t>
            </a:r>
          </a:p>
        </p:txBody>
      </p:sp>
      <p:sp>
        <p:nvSpPr>
          <p:cNvPr id="25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8676070" y="2227790"/>
            <a:ext cx="2128051" cy="1532334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ru-RU" sz="1200" dirty="0"/>
              <a:t>- роли (архитектор данных, владелец данных, инженер данных и т.д.)</a:t>
            </a:r>
          </a:p>
          <a:p>
            <a:r>
              <a:rPr lang="ru-RU" sz="1200" dirty="0"/>
              <a:t>- функции</a:t>
            </a:r>
          </a:p>
          <a:p>
            <a:r>
              <a:rPr lang="ru-RU" sz="1200" dirty="0"/>
              <a:t>- обязанности</a:t>
            </a:r>
          </a:p>
          <a:p>
            <a:r>
              <a:rPr lang="ru-RU" sz="1200" dirty="0"/>
              <a:t>…</a:t>
            </a:r>
          </a:p>
        </p:txBody>
      </p:sp>
      <p:sp>
        <p:nvSpPr>
          <p:cNvPr id="26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8988726" y="5426147"/>
            <a:ext cx="2799737" cy="1123712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ru-RU" sz="1200" dirty="0"/>
              <a:t>8 основных процессов управления пространственными данными</a:t>
            </a:r>
          </a:p>
          <a:p>
            <a:pPr marL="171450" indent="-171450">
              <a:buFontTx/>
              <a:buChar char="-"/>
            </a:pPr>
            <a:r>
              <a:rPr lang="ru-RU" sz="1200" dirty="0"/>
              <a:t>зрелость процессов</a:t>
            </a:r>
          </a:p>
          <a:p>
            <a:pPr marL="171450" indent="-171450">
              <a:buFontTx/>
              <a:buChar char="-"/>
            </a:pPr>
            <a:r>
              <a:rPr lang="ru-RU" sz="1200" dirty="0"/>
              <a:t>рекомендуемые инструменты</a:t>
            </a:r>
          </a:p>
        </p:txBody>
      </p:sp>
      <p:sp>
        <p:nvSpPr>
          <p:cNvPr id="27" name="Прямоугольник 29">
            <a:extLst>
              <a:ext uri="{FF2B5EF4-FFF2-40B4-BE49-F238E27FC236}">
                <a16:creationId xmlns:a16="http://schemas.microsoft.com/office/drawing/2014/main" id="{6E4F215C-C0FF-47B9-A102-80A89B38B207}"/>
              </a:ext>
            </a:extLst>
          </p:cNvPr>
          <p:cNvSpPr/>
          <p:nvPr/>
        </p:nvSpPr>
        <p:spPr>
          <a:xfrm>
            <a:off x="917936" y="5474212"/>
            <a:ext cx="2308589" cy="1123712"/>
          </a:xfrm>
          <a:prstGeom prst="round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ru-RU" sz="1200" dirty="0"/>
              <a:t>- 26 наборов данных </a:t>
            </a:r>
            <a:br>
              <a:rPr lang="ru-RU" sz="1200" dirty="0"/>
            </a:br>
            <a:r>
              <a:rPr lang="ru-RU" sz="1200" dirty="0"/>
              <a:t>в пилотном проекте в сфере градостроительства, удовлетворяющие требованиям к ПД</a:t>
            </a:r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4430570" y="2922103"/>
            <a:ext cx="2686658" cy="3248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Непрерывное обучение</a:t>
            </a: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3924841" y="3339290"/>
            <a:ext cx="3658986" cy="4598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Анкетирование, мониторинг, паспортизация</a:t>
            </a: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3924841" y="3910456"/>
            <a:ext cx="3658986" cy="5478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Методическое </a:t>
            </a:r>
            <a:br>
              <a:rPr lang="ru-RU" sz="1600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600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 консультационное сопровождение</a:t>
            </a:r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4516660" y="4551884"/>
            <a:ext cx="2658584" cy="52508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Сбор потребностей и требований к ПД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981" y="4342040"/>
            <a:ext cx="1543809" cy="1543809"/>
          </a:xfrm>
          <a:prstGeom prst="rect">
            <a:avLst/>
          </a:prstGeom>
        </p:spPr>
      </p:pic>
      <p:sp>
        <p:nvSpPr>
          <p:cNvPr id="33" name="Скругленный прямоугольник 32"/>
          <p:cNvSpPr/>
          <p:nvPr/>
        </p:nvSpPr>
        <p:spPr>
          <a:xfrm>
            <a:off x="4496060" y="5170550"/>
            <a:ext cx="2658584" cy="100210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n w="0"/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Разработка ДК по повышению уровня зрелости процессов управления ПД</a:t>
            </a:r>
          </a:p>
        </p:txBody>
      </p:sp>
    </p:spTree>
    <p:extLst>
      <p:ext uri="{BB962C8B-B14F-4D97-AF65-F5344CB8AC3E}">
        <p14:creationId xmlns:p14="http://schemas.microsoft.com/office/powerpoint/2010/main" val="75180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957" y="1595"/>
          <a:ext cx="1955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7" y="1595"/>
                        <a:ext cx="1955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одзаголовок 4">
            <a:extLst>
              <a:ext uri="{FF2B5EF4-FFF2-40B4-BE49-F238E27FC236}">
                <a16:creationId xmlns:a16="http://schemas.microsoft.com/office/drawing/2014/main" id="{6606CED7-1700-A14B-9EC7-E137772CA85D}"/>
              </a:ext>
            </a:extLst>
          </p:cNvPr>
          <p:cNvSpPr txBox="1">
            <a:spLocks/>
          </p:cNvSpPr>
          <p:nvPr/>
        </p:nvSpPr>
        <p:spPr>
          <a:xfrm>
            <a:off x="458037" y="1080714"/>
            <a:ext cx="6004291" cy="3412047"/>
          </a:xfrm>
        </p:spPr>
        <p:txBody>
          <a:bodyPr lIns="65273" tIns="32641" rIns="65273" bIns="3264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6" name="Подзаголовок 4">
            <a:extLst>
              <a:ext uri="{FF2B5EF4-FFF2-40B4-BE49-F238E27FC236}">
                <a16:creationId xmlns:a16="http://schemas.microsoft.com/office/drawing/2014/main" id="{6606CED7-1700-A14B-9EC7-E137772CA85D}"/>
              </a:ext>
            </a:extLst>
          </p:cNvPr>
          <p:cNvSpPr txBox="1">
            <a:spLocks/>
          </p:cNvSpPr>
          <p:nvPr/>
        </p:nvSpPr>
        <p:spPr>
          <a:xfrm>
            <a:off x="310398" y="2557554"/>
            <a:ext cx="6151930" cy="633882"/>
          </a:xfrm>
        </p:spPr>
        <p:txBody>
          <a:bodyPr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>
                <a:cs typeface="Arial" panose="020B0604020202020204" pitchFamily="34" charset="0"/>
              </a:rPr>
              <a:t>Спасибо за внимание!</a:t>
            </a:r>
          </a:p>
        </p:txBody>
      </p:sp>
      <p:sp>
        <p:nvSpPr>
          <p:cNvPr id="7" name="Заголовок 17">
            <a:extLst>
              <a:ext uri="{FF2B5EF4-FFF2-40B4-BE49-F238E27FC236}">
                <a16:creationId xmlns:a16="http://schemas.microsoft.com/office/drawing/2014/main" id="{21F10069-B218-4A5B-9167-E05811BB742D}"/>
              </a:ext>
            </a:extLst>
          </p:cNvPr>
          <p:cNvSpPr txBox="1">
            <a:spLocks/>
          </p:cNvSpPr>
          <p:nvPr/>
        </p:nvSpPr>
        <p:spPr>
          <a:xfrm>
            <a:off x="6951015" y="3191436"/>
            <a:ext cx="4650280" cy="2409640"/>
          </a:xfrm>
          <a:prstGeom prst="rect">
            <a:avLst/>
          </a:prstGeom>
        </p:spPr>
        <p:txBody>
          <a:bodyPr lIns="65308" tIns="32655" rIns="65308" bIns="32655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rgbClr val="1890F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 defTabSz="1219140"/>
            <a:r>
              <a:rPr lang="ru-RU" sz="2000" dirty="0">
                <a:solidFill>
                  <a:schemeClr val="tx2"/>
                </a:solidFill>
              </a:rPr>
              <a:t>Объединяем 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пространство 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и данные</a:t>
            </a:r>
          </a:p>
        </p:txBody>
      </p:sp>
    </p:spTree>
    <p:extLst>
      <p:ext uri="{BB962C8B-B14F-4D97-AF65-F5344CB8AC3E}">
        <p14:creationId xmlns:p14="http://schemas.microsoft.com/office/powerpoint/2010/main" val="2811353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49AA9F89-8FE7-453C-8FBE-FAF4AE20A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9432521" y="6517614"/>
            <a:ext cx="2743200" cy="365125"/>
          </a:xfrm>
        </p:spPr>
        <p:txBody>
          <a:bodyPr/>
          <a:lstStyle/>
          <a:p>
            <a:pPr>
              <a:defRPr/>
            </a:pPr>
            <a:fld id="{35ACA335-37F7-42C7-872A-92C3D7072F89}" type="slidenum">
              <a:rPr lang="ru-RU">
                <a:solidFill>
                  <a:srgbClr val="FFFFFF"/>
                </a:solidFill>
                <a:latin typeface="Arial"/>
              </a:rPr>
              <a:pPr>
                <a:defRPr/>
              </a:pPr>
              <a:t>21</a:t>
            </a:fld>
            <a:endParaRPr lang="ru-RU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6E65C5F-5DBB-2E42-9AA1-2B4D23B36F46}"/>
              </a:ext>
            </a:extLst>
          </p:cNvPr>
          <p:cNvSpPr txBox="1">
            <a:spLocks/>
          </p:cNvSpPr>
          <p:nvPr/>
        </p:nvSpPr>
        <p:spPr>
          <a:xfrm>
            <a:off x="1621536" y="14598"/>
            <a:ext cx="10166927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>
                <a:solidFill>
                  <a:srgbClr val="007AFF"/>
                </a:solidFill>
              </a:rPr>
              <a:t>Система стандартов НСПД. Основные объекты стандартизации</a:t>
            </a:r>
            <a:endParaRPr lang="ru-RU" sz="2000" b="1" dirty="0">
              <a:solidFill>
                <a:srgbClr val="007AF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83A7CD7-6B9C-421F-88C0-5295B46331EE}"/>
              </a:ext>
            </a:extLst>
          </p:cNvPr>
          <p:cNvSpPr/>
          <p:nvPr/>
        </p:nvSpPr>
        <p:spPr>
          <a:xfrm>
            <a:off x="4846410" y="1707172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Системы координат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5934A69-0736-41F7-956A-A37606CD23B5}"/>
              </a:ext>
            </a:extLst>
          </p:cNvPr>
          <p:cNvSpPr/>
          <p:nvPr/>
        </p:nvSpPr>
        <p:spPr>
          <a:xfrm>
            <a:off x="7809479" y="2301281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Классификация </a:t>
            </a:r>
            <a:r>
              <a:rPr lang="ru-RU" sz="1200" dirty="0" err="1">
                <a:solidFill>
                  <a:schemeClr val="tx1"/>
                </a:solidFill>
              </a:rPr>
              <a:t>геоданных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0CEA1F0-2031-4261-B2AF-B2E713D1D75F}"/>
              </a:ext>
            </a:extLst>
          </p:cNvPr>
          <p:cNvSpPr/>
          <p:nvPr/>
        </p:nvSpPr>
        <p:spPr>
          <a:xfrm>
            <a:off x="4861590" y="2307298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Технологии создания </a:t>
            </a:r>
            <a:r>
              <a:rPr lang="ru-RU" sz="1200" dirty="0" err="1">
                <a:solidFill>
                  <a:schemeClr val="tx1"/>
                </a:solidFill>
              </a:rPr>
              <a:t>геоданных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6D80C80-4D3A-404D-9F86-07834465904F}"/>
              </a:ext>
            </a:extLst>
          </p:cNvPr>
          <p:cNvSpPr/>
          <p:nvPr/>
        </p:nvSpPr>
        <p:spPr>
          <a:xfrm>
            <a:off x="7809480" y="1707172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Данные ДЗЗ (в целом)</a:t>
            </a:r>
          </a:p>
        </p:txBody>
      </p:sp>
      <p:sp>
        <p:nvSpPr>
          <p:cNvPr id="11" name="Прямоугольник: скругленные углы 93">
            <a:extLst>
              <a:ext uri="{FF2B5EF4-FFF2-40B4-BE49-F238E27FC236}">
                <a16:creationId xmlns:a16="http://schemas.microsoft.com/office/drawing/2014/main" id="{917510E6-2C7A-48C7-BB6A-74058B341713}"/>
              </a:ext>
            </a:extLst>
          </p:cNvPr>
          <p:cNvSpPr/>
          <p:nvPr/>
        </p:nvSpPr>
        <p:spPr>
          <a:xfrm>
            <a:off x="7795406" y="2915851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Онтологии </a:t>
            </a:r>
            <a:r>
              <a:rPr lang="ru-RU" sz="1200" dirty="0" err="1">
                <a:solidFill>
                  <a:schemeClr val="tx1"/>
                </a:solidFill>
              </a:rPr>
              <a:t>геоданных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: скругленные углы 93">
            <a:extLst>
              <a:ext uri="{FF2B5EF4-FFF2-40B4-BE49-F238E27FC236}">
                <a16:creationId xmlns:a16="http://schemas.microsoft.com/office/drawing/2014/main" id="{F08E6CDB-70E7-4566-AF0C-2A706ACFE4CD}"/>
              </a:ext>
            </a:extLst>
          </p:cNvPr>
          <p:cNvSpPr/>
          <p:nvPr/>
        </p:nvSpPr>
        <p:spPr>
          <a:xfrm>
            <a:off x="4861590" y="2894041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Система управления качеством </a:t>
            </a:r>
            <a:r>
              <a:rPr lang="ru-RU" sz="1200" dirty="0" err="1">
                <a:solidFill>
                  <a:schemeClr val="tx1"/>
                </a:solidFill>
              </a:rPr>
              <a:t>геоданных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: скругленные углы 94">
            <a:extLst>
              <a:ext uri="{FF2B5EF4-FFF2-40B4-BE49-F238E27FC236}">
                <a16:creationId xmlns:a16="http://schemas.microsoft.com/office/drawing/2014/main" id="{F5EB8002-41CA-4407-A48C-A6C5CA6A7D82}"/>
              </a:ext>
            </a:extLst>
          </p:cNvPr>
          <p:cNvSpPr/>
          <p:nvPr/>
        </p:nvSpPr>
        <p:spPr>
          <a:xfrm>
            <a:off x="1934355" y="1707172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Координатное описание пространственных объектов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C58CB41-D8C6-405D-B4E9-8022646C4491}"/>
              </a:ext>
            </a:extLst>
          </p:cNvPr>
          <p:cNvCxnSpPr>
            <a:cxnSpLocks/>
          </p:cNvCxnSpPr>
          <p:nvPr/>
        </p:nvCxnSpPr>
        <p:spPr>
          <a:xfrm>
            <a:off x="1621536" y="4241748"/>
            <a:ext cx="8870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94">
            <a:extLst>
              <a:ext uri="{FF2B5EF4-FFF2-40B4-BE49-F238E27FC236}">
                <a16:creationId xmlns:a16="http://schemas.microsoft.com/office/drawing/2014/main" id="{546A8913-F5BB-4B16-8D7D-78BD4A8930F0}"/>
              </a:ext>
            </a:extLst>
          </p:cNvPr>
          <p:cNvSpPr/>
          <p:nvPr/>
        </p:nvSpPr>
        <p:spPr>
          <a:xfrm>
            <a:off x="1934354" y="2301281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err="1">
                <a:solidFill>
                  <a:schemeClr val="tx1"/>
                </a:solidFill>
              </a:rPr>
              <a:t>Геосервисы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: скругленные углы 94">
            <a:extLst>
              <a:ext uri="{FF2B5EF4-FFF2-40B4-BE49-F238E27FC236}">
                <a16:creationId xmlns:a16="http://schemas.microsoft.com/office/drawing/2014/main" id="{05A6C35D-3B21-430C-B068-10145C3D6BEA}"/>
              </a:ext>
            </a:extLst>
          </p:cNvPr>
          <p:cNvSpPr/>
          <p:nvPr/>
        </p:nvSpPr>
        <p:spPr>
          <a:xfrm>
            <a:off x="1934353" y="2897841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Обменные форматы </a:t>
            </a:r>
            <a:r>
              <a:rPr lang="ru-RU" sz="1200" dirty="0" err="1">
                <a:solidFill>
                  <a:schemeClr val="tx1"/>
                </a:solidFill>
              </a:rPr>
              <a:t>геоданных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: скругленные углы 95">
            <a:extLst>
              <a:ext uri="{FF2B5EF4-FFF2-40B4-BE49-F238E27FC236}">
                <a16:creationId xmlns:a16="http://schemas.microsoft.com/office/drawing/2014/main" id="{2BAB085A-AA95-496F-A5FE-C8615C6FE129}"/>
              </a:ext>
            </a:extLst>
          </p:cNvPr>
          <p:cNvSpPr/>
          <p:nvPr/>
        </p:nvSpPr>
        <p:spPr>
          <a:xfrm>
            <a:off x="1934352" y="1112206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Терминология НСПД</a:t>
            </a:r>
          </a:p>
        </p:txBody>
      </p:sp>
      <p:sp>
        <p:nvSpPr>
          <p:cNvPr id="18" name="Прямоугольник: скругленные углы 95">
            <a:extLst>
              <a:ext uri="{FF2B5EF4-FFF2-40B4-BE49-F238E27FC236}">
                <a16:creationId xmlns:a16="http://schemas.microsoft.com/office/drawing/2014/main" id="{0E0DDC92-A1E1-48FA-B510-031A6E8005CF}"/>
              </a:ext>
            </a:extLst>
          </p:cNvPr>
          <p:cNvSpPr/>
          <p:nvPr/>
        </p:nvSpPr>
        <p:spPr>
          <a:xfrm>
            <a:off x="4846411" y="1111511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Визуализация </a:t>
            </a:r>
            <a:r>
              <a:rPr lang="ru-RU" sz="1200" dirty="0" err="1">
                <a:solidFill>
                  <a:schemeClr val="tx1"/>
                </a:solidFill>
              </a:rPr>
              <a:t>геоданных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: скругленные углы 95">
            <a:extLst>
              <a:ext uri="{FF2B5EF4-FFF2-40B4-BE49-F238E27FC236}">
                <a16:creationId xmlns:a16="http://schemas.microsoft.com/office/drawing/2014/main" id="{EC73B8F7-EBEE-4C8A-8344-205A7D9C5B2C}"/>
              </a:ext>
            </a:extLst>
          </p:cNvPr>
          <p:cNvSpPr/>
          <p:nvPr/>
        </p:nvSpPr>
        <p:spPr>
          <a:xfrm>
            <a:off x="7794303" y="1115476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Локализация </a:t>
            </a:r>
            <a:r>
              <a:rPr lang="ru-RU" sz="1200" dirty="0" err="1">
                <a:solidFill>
                  <a:schemeClr val="tx1"/>
                </a:solidFill>
              </a:rPr>
              <a:t>геоданных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: скругленные углы 94">
            <a:extLst>
              <a:ext uri="{FF2B5EF4-FFF2-40B4-BE49-F238E27FC236}">
                <a16:creationId xmlns:a16="http://schemas.microsoft.com/office/drawing/2014/main" id="{ED59700D-D8C8-4C48-A3B1-8186160E99EA}"/>
              </a:ext>
            </a:extLst>
          </p:cNvPr>
          <p:cNvSpPr/>
          <p:nvPr/>
        </p:nvSpPr>
        <p:spPr>
          <a:xfrm>
            <a:off x="1934351" y="4547454"/>
            <a:ext cx="1810437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Картография, аэросъёмка, ЕЭКО</a:t>
            </a:r>
          </a:p>
        </p:txBody>
      </p:sp>
      <p:sp>
        <p:nvSpPr>
          <p:cNvPr id="21" name="Прямоугольник: скругленные углы 94">
            <a:extLst>
              <a:ext uri="{FF2B5EF4-FFF2-40B4-BE49-F238E27FC236}">
                <a16:creationId xmlns:a16="http://schemas.microsoft.com/office/drawing/2014/main" id="{2FC7DC07-6A1A-4506-AB70-47A311983DC1}"/>
              </a:ext>
            </a:extLst>
          </p:cNvPr>
          <p:cNvSpPr/>
          <p:nvPr/>
        </p:nvSpPr>
        <p:spPr>
          <a:xfrm>
            <a:off x="4182068" y="4547454"/>
            <a:ext cx="1913932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Геодезия, системы координат</a:t>
            </a:r>
          </a:p>
        </p:txBody>
      </p:sp>
      <p:sp>
        <p:nvSpPr>
          <p:cNvPr id="22" name="Прямоугольник: скругленные углы 94">
            <a:extLst>
              <a:ext uri="{FF2B5EF4-FFF2-40B4-BE49-F238E27FC236}">
                <a16:creationId xmlns:a16="http://schemas.microsoft.com/office/drawing/2014/main" id="{D12640C9-6DDA-4CFB-8072-5705E82E2ED0}"/>
              </a:ext>
            </a:extLst>
          </p:cNvPr>
          <p:cNvSpPr/>
          <p:nvPr/>
        </p:nvSpPr>
        <p:spPr>
          <a:xfrm>
            <a:off x="6511738" y="4533908"/>
            <a:ext cx="161006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Фотограмметрия, фототопография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7B2651E-2FDC-4098-9961-5C77C19921EB}"/>
              </a:ext>
            </a:extLst>
          </p:cNvPr>
          <p:cNvCxnSpPr>
            <a:cxnSpLocks/>
          </p:cNvCxnSpPr>
          <p:nvPr/>
        </p:nvCxnSpPr>
        <p:spPr>
          <a:xfrm>
            <a:off x="1621536" y="5477216"/>
            <a:ext cx="8870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: скругленные углы 94">
            <a:extLst>
              <a:ext uri="{FF2B5EF4-FFF2-40B4-BE49-F238E27FC236}">
                <a16:creationId xmlns:a16="http://schemas.microsoft.com/office/drawing/2014/main" id="{A6294B9C-E547-4098-BA57-CF818BC9750C}"/>
              </a:ext>
            </a:extLst>
          </p:cNvPr>
          <p:cNvSpPr/>
          <p:nvPr/>
        </p:nvSpPr>
        <p:spPr>
          <a:xfrm>
            <a:off x="1934351" y="5663043"/>
            <a:ext cx="1806684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Данные ДЗЗ из космоса</a:t>
            </a:r>
          </a:p>
        </p:txBody>
      </p:sp>
      <p:sp>
        <p:nvSpPr>
          <p:cNvPr id="25" name="Прямоугольник: скругленные углы 93">
            <a:extLst>
              <a:ext uri="{FF2B5EF4-FFF2-40B4-BE49-F238E27FC236}">
                <a16:creationId xmlns:a16="http://schemas.microsoft.com/office/drawing/2014/main" id="{45D2A9A0-39A8-442D-AAFD-C8471BE6451E}"/>
              </a:ext>
            </a:extLst>
          </p:cNvPr>
          <p:cNvSpPr/>
          <p:nvPr/>
        </p:nvSpPr>
        <p:spPr>
          <a:xfrm>
            <a:off x="7800235" y="3469890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Моделирование </a:t>
            </a:r>
            <a:r>
              <a:rPr lang="ru-RU" sz="1200" dirty="0" err="1">
                <a:solidFill>
                  <a:schemeClr val="tx1"/>
                </a:solidFill>
              </a:rPr>
              <a:t>геоданных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6" name="Прямоугольник: скругленные углы 93">
            <a:extLst>
              <a:ext uri="{FF2B5EF4-FFF2-40B4-BE49-F238E27FC236}">
                <a16:creationId xmlns:a16="http://schemas.microsoft.com/office/drawing/2014/main" id="{1AFDF675-6AA3-40FF-8798-360277703FD9}"/>
              </a:ext>
            </a:extLst>
          </p:cNvPr>
          <p:cNvSpPr/>
          <p:nvPr/>
        </p:nvSpPr>
        <p:spPr>
          <a:xfrm>
            <a:off x="4861590" y="3469890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Пространственные метаданные</a:t>
            </a:r>
          </a:p>
        </p:txBody>
      </p:sp>
      <p:sp>
        <p:nvSpPr>
          <p:cNvPr id="27" name="Прямоугольник: скругленные углы 93">
            <a:extLst>
              <a:ext uri="{FF2B5EF4-FFF2-40B4-BE49-F238E27FC236}">
                <a16:creationId xmlns:a16="http://schemas.microsoft.com/office/drawing/2014/main" id="{6AEC8A7A-B17B-4CE1-8EB1-43B33CE7C0F0}"/>
              </a:ext>
            </a:extLst>
          </p:cNvPr>
          <p:cNvSpPr/>
          <p:nvPr/>
        </p:nvSpPr>
        <p:spPr>
          <a:xfrm>
            <a:off x="1922355" y="3469890"/>
            <a:ext cx="237921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Преобразование в цифровую форму</a:t>
            </a:r>
          </a:p>
        </p:txBody>
      </p:sp>
      <p:sp>
        <p:nvSpPr>
          <p:cNvPr id="28" name="Прямоугольник: скругленные углы 94">
            <a:extLst>
              <a:ext uri="{FF2B5EF4-FFF2-40B4-BE49-F238E27FC236}">
                <a16:creationId xmlns:a16="http://schemas.microsoft.com/office/drawing/2014/main" id="{76A8094C-23B3-48FF-BDCD-A7FE05C905F9}"/>
              </a:ext>
            </a:extLst>
          </p:cNvPr>
          <p:cNvSpPr/>
          <p:nvPr/>
        </p:nvSpPr>
        <p:spPr>
          <a:xfrm>
            <a:off x="4221642" y="5685553"/>
            <a:ext cx="1876296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Градостроительная деятельность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5146D8-4333-4B33-A1E0-285548DE4CFD}"/>
              </a:ext>
            </a:extLst>
          </p:cNvPr>
          <p:cNvSpPr txBox="1"/>
          <p:nvPr/>
        </p:nvSpPr>
        <p:spPr>
          <a:xfrm>
            <a:off x="408643" y="5685066"/>
            <a:ext cx="12074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300" b="1" dirty="0">
                <a:solidFill>
                  <a:schemeClr val="tx2"/>
                </a:solidFill>
                <a:latin typeface="Arial"/>
                <a:ea typeface="Inter Black" pitchFamily="34" charset="-122"/>
              </a:rPr>
              <a:t>СМЕЖНЫЕ отрасли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5D0786-D884-465A-8987-5D4E2C7A726F}"/>
              </a:ext>
            </a:extLst>
          </p:cNvPr>
          <p:cNvSpPr txBox="1"/>
          <p:nvPr/>
        </p:nvSpPr>
        <p:spPr>
          <a:xfrm>
            <a:off x="354583" y="4675484"/>
            <a:ext cx="138775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300" b="1" dirty="0">
                <a:solidFill>
                  <a:schemeClr val="tx2"/>
                </a:solidFill>
                <a:latin typeface="Arial"/>
                <a:ea typeface="Inter Black" pitchFamily="34" charset="-122"/>
              </a:rPr>
              <a:t>ТЕХНОЛОГИИ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E90A9C-1CE9-4A58-B595-5355074E3EFF}"/>
              </a:ext>
            </a:extLst>
          </p:cNvPr>
          <p:cNvSpPr txBox="1"/>
          <p:nvPr/>
        </p:nvSpPr>
        <p:spPr>
          <a:xfrm>
            <a:off x="423364" y="1112206"/>
            <a:ext cx="99985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300" b="1" dirty="0">
                <a:solidFill>
                  <a:schemeClr val="tx2"/>
                </a:solidFill>
                <a:latin typeface="Arial"/>
                <a:ea typeface="Inter Black" pitchFamily="34" charset="-122"/>
              </a:rPr>
              <a:t>НСПД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6C34BD-A855-447B-9D54-9250E7C25265}"/>
              </a:ext>
            </a:extLst>
          </p:cNvPr>
          <p:cNvSpPr txBox="1"/>
          <p:nvPr/>
        </p:nvSpPr>
        <p:spPr>
          <a:xfrm>
            <a:off x="10664188" y="1112206"/>
            <a:ext cx="999857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НОВЫЕ</a:t>
            </a:r>
          </a:p>
          <a:p>
            <a:pPr algn="ctr"/>
            <a:r>
              <a:rPr lang="ru-RU" b="1" dirty="0"/>
              <a:t>(серия НСПД)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289437-0C40-4EAF-A592-53C14042E729}"/>
              </a:ext>
            </a:extLst>
          </p:cNvPr>
          <p:cNvSpPr txBox="1"/>
          <p:nvPr/>
        </p:nvSpPr>
        <p:spPr>
          <a:xfrm>
            <a:off x="10636564" y="2804510"/>
            <a:ext cx="1142724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До 2023 г. </a:t>
            </a:r>
          </a:p>
        </p:txBody>
      </p:sp>
      <p:sp>
        <p:nvSpPr>
          <p:cNvPr id="38" name="Прямоугольник: скругленные углы 94">
            <a:extLst>
              <a:ext uri="{FF2B5EF4-FFF2-40B4-BE49-F238E27FC236}">
                <a16:creationId xmlns:a16="http://schemas.microsoft.com/office/drawing/2014/main" id="{C2296422-2165-4078-B236-6F0610ED50CF}"/>
              </a:ext>
            </a:extLst>
          </p:cNvPr>
          <p:cNvSpPr/>
          <p:nvPr/>
        </p:nvSpPr>
        <p:spPr>
          <a:xfrm>
            <a:off x="6509577" y="5673502"/>
            <a:ext cx="1610066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Строительство</a:t>
            </a:r>
          </a:p>
        </p:txBody>
      </p:sp>
      <p:sp>
        <p:nvSpPr>
          <p:cNvPr id="39" name="Прямоугольник: скругленные углы 94">
            <a:extLst>
              <a:ext uri="{FF2B5EF4-FFF2-40B4-BE49-F238E27FC236}">
                <a16:creationId xmlns:a16="http://schemas.microsoft.com/office/drawing/2014/main" id="{7864C759-61A2-4379-81A3-A9493FAB2EB0}"/>
              </a:ext>
            </a:extLst>
          </p:cNvPr>
          <p:cNvSpPr/>
          <p:nvPr/>
        </p:nvSpPr>
        <p:spPr>
          <a:xfrm>
            <a:off x="8563452" y="5662978"/>
            <a:ext cx="161006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Адресация</a:t>
            </a:r>
          </a:p>
        </p:txBody>
      </p:sp>
      <p:sp>
        <p:nvSpPr>
          <p:cNvPr id="41" name="Прямоугольник: скругленные углы 94">
            <a:extLst>
              <a:ext uri="{FF2B5EF4-FFF2-40B4-BE49-F238E27FC236}">
                <a16:creationId xmlns:a16="http://schemas.microsoft.com/office/drawing/2014/main" id="{4871C82E-E4DB-4D2F-8B1D-8095AEA13C2A}"/>
              </a:ext>
            </a:extLst>
          </p:cNvPr>
          <p:cNvSpPr/>
          <p:nvPr/>
        </p:nvSpPr>
        <p:spPr>
          <a:xfrm>
            <a:off x="8563453" y="4531981"/>
            <a:ext cx="1610065" cy="49715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CFF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Лазерное сканирование</a:t>
            </a:r>
          </a:p>
        </p:txBody>
      </p:sp>
      <p:sp>
        <p:nvSpPr>
          <p:cNvPr id="50" name="Капля 49">
            <a:extLst>
              <a:ext uri="{FF2B5EF4-FFF2-40B4-BE49-F238E27FC236}">
                <a16:creationId xmlns:a16="http://schemas.microsoft.com/office/drawing/2014/main" id="{75483461-AF62-4000-B9E2-1AA1EC1A11BA}"/>
              </a:ext>
            </a:extLst>
          </p:cNvPr>
          <p:cNvSpPr/>
          <p:nvPr/>
        </p:nvSpPr>
        <p:spPr>
          <a:xfrm rot="10800000">
            <a:off x="10852682" y="1542422"/>
            <a:ext cx="726423" cy="726423"/>
          </a:xfrm>
          <a:prstGeom prst="teardrop">
            <a:avLst/>
          </a:pr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9553EE-310F-4644-8130-C0AD5EDD961D}"/>
              </a:ext>
            </a:extLst>
          </p:cNvPr>
          <p:cNvSpPr txBox="1"/>
          <p:nvPr/>
        </p:nvSpPr>
        <p:spPr>
          <a:xfrm>
            <a:off x="11003083" y="1696183"/>
            <a:ext cx="409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52" name="Капля 51">
            <a:extLst>
              <a:ext uri="{FF2B5EF4-FFF2-40B4-BE49-F238E27FC236}">
                <a16:creationId xmlns:a16="http://schemas.microsoft.com/office/drawing/2014/main" id="{0C5A240A-3BB9-4A98-B637-30B9FA16DC53}"/>
              </a:ext>
            </a:extLst>
          </p:cNvPr>
          <p:cNvSpPr/>
          <p:nvPr/>
        </p:nvSpPr>
        <p:spPr>
          <a:xfrm rot="10800000">
            <a:off x="10835451" y="3052930"/>
            <a:ext cx="726423" cy="726423"/>
          </a:xfrm>
          <a:prstGeom prst="teardrop">
            <a:avLst/>
          </a:pr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A32322-09DF-4DD0-AE2D-B99EF7035D38}"/>
              </a:ext>
            </a:extLst>
          </p:cNvPr>
          <p:cNvSpPr txBox="1"/>
          <p:nvPr/>
        </p:nvSpPr>
        <p:spPr>
          <a:xfrm>
            <a:off x="10835787" y="3242659"/>
            <a:ext cx="656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&gt;30</a:t>
            </a:r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54" name="Капля 53">
            <a:extLst>
              <a:ext uri="{FF2B5EF4-FFF2-40B4-BE49-F238E27FC236}">
                <a16:creationId xmlns:a16="http://schemas.microsoft.com/office/drawing/2014/main" id="{12B3286D-1B1F-4374-B81E-A8E66625D20B}"/>
              </a:ext>
            </a:extLst>
          </p:cNvPr>
          <p:cNvSpPr/>
          <p:nvPr/>
        </p:nvSpPr>
        <p:spPr>
          <a:xfrm rot="10800000">
            <a:off x="10858839" y="4318181"/>
            <a:ext cx="726423" cy="726423"/>
          </a:xfrm>
          <a:prstGeom prst="teardrop">
            <a:avLst/>
          </a:pr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A988DC-1228-435B-945A-47A039D1A8A4}"/>
              </a:ext>
            </a:extLst>
          </p:cNvPr>
          <p:cNvSpPr txBox="1"/>
          <p:nvPr/>
        </p:nvSpPr>
        <p:spPr>
          <a:xfrm>
            <a:off x="10859175" y="4507910"/>
            <a:ext cx="656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&gt;</a:t>
            </a:r>
            <a:r>
              <a:rPr lang="ru-RU" sz="1600" b="1">
                <a:solidFill>
                  <a:schemeClr val="bg1"/>
                </a:solidFill>
              </a:rPr>
              <a:t>100</a:t>
            </a:r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56" name="Капля 55">
            <a:extLst>
              <a:ext uri="{FF2B5EF4-FFF2-40B4-BE49-F238E27FC236}">
                <a16:creationId xmlns:a16="http://schemas.microsoft.com/office/drawing/2014/main" id="{8B41DE7D-A905-4BF7-8552-03E1B436138F}"/>
              </a:ext>
            </a:extLst>
          </p:cNvPr>
          <p:cNvSpPr/>
          <p:nvPr/>
        </p:nvSpPr>
        <p:spPr>
          <a:xfrm rot="10800000">
            <a:off x="10850839" y="5406885"/>
            <a:ext cx="726423" cy="726423"/>
          </a:xfrm>
          <a:prstGeom prst="teardrop">
            <a:avLst/>
          </a:pr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2FFE43-821B-4ADB-9DAD-48E0C834C234}"/>
              </a:ext>
            </a:extLst>
          </p:cNvPr>
          <p:cNvSpPr txBox="1"/>
          <p:nvPr/>
        </p:nvSpPr>
        <p:spPr>
          <a:xfrm>
            <a:off x="10851175" y="5596614"/>
            <a:ext cx="656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&gt;</a:t>
            </a:r>
            <a:r>
              <a:rPr lang="ru-RU" sz="1600" b="1">
                <a:solidFill>
                  <a:schemeClr val="bg1"/>
                </a:solidFill>
              </a:rPr>
              <a:t>50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749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Шаблон">
  <a:themeElements>
    <a:clrScheme name="Другая 1">
      <a:dk1>
        <a:srgbClr val="000000"/>
      </a:dk1>
      <a:lt1>
        <a:srgbClr val="FFFFFF"/>
      </a:lt1>
      <a:dk2>
        <a:srgbClr val="008CFF"/>
      </a:dk2>
      <a:lt2>
        <a:srgbClr val="ECF3FA"/>
      </a:lt2>
      <a:accent1>
        <a:srgbClr val="008CFF"/>
      </a:accent1>
      <a:accent2>
        <a:srgbClr val="00CC99"/>
      </a:accent2>
      <a:accent3>
        <a:srgbClr val="FF7900"/>
      </a:accent3>
      <a:accent4>
        <a:srgbClr val="85C0FB"/>
      </a:accent4>
      <a:accent5>
        <a:srgbClr val="4AFFC3"/>
      </a:accent5>
      <a:accent6>
        <a:srgbClr val="FFC000"/>
      </a:accent6>
      <a:hlink>
        <a:srgbClr val="E17900"/>
      </a:hlink>
      <a:folHlink>
        <a:srgbClr val="4C4D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23182</TotalTime>
  <Words>2776</Words>
  <Application>Microsoft Office PowerPoint</Application>
  <PresentationFormat>Широкоэкранный</PresentationFormat>
  <Paragraphs>439</Paragraphs>
  <Slides>21</Slides>
  <Notes>21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Open Sans</vt:lpstr>
      <vt:lpstr>Wingdings</vt:lpstr>
      <vt:lpstr>Шаблон</vt:lpstr>
      <vt:lpstr>think-cell Slide</vt:lpstr>
      <vt:lpstr>Презентация PowerPoint</vt:lpstr>
      <vt:lpstr>Презентация PowerPoint</vt:lpstr>
      <vt:lpstr>Презентация PowerPoint</vt:lpstr>
      <vt:lpstr>Качество пространственных данных: концептуальные основы оценки качества пространственных данных</vt:lpstr>
      <vt:lpstr>Качество пространственных данных: процесс оценки качества данных</vt:lpstr>
      <vt:lpstr>Презентация PowerPoint</vt:lpstr>
      <vt:lpstr>Предлагаемая иерархия видов документов по управлению пространственными данными для организаций-поставщиков данных во ФГИС ЕЦП НСПД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Цифровая  трансформация  и реинжиниринг бизнес-процессов</dc:title>
  <dc:creator>BuravtsevAV@kadastr.ru</dc:creator>
  <cp:lastModifiedBy>Алексей Буравцев</cp:lastModifiedBy>
  <cp:revision>1330</cp:revision>
  <cp:lastPrinted>2025-10-29T09:11:03Z</cp:lastPrinted>
  <dcterms:created xsi:type="dcterms:W3CDTF">2020-12-17T18:43:20Z</dcterms:created>
  <dcterms:modified xsi:type="dcterms:W3CDTF">2026-08-08T14:42:21Z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2020-12-17T00:00:00Z</vt:filetime>
  </property>
  <property fmtid="{D5CDD505-2E9C-101B-9397-08002B2CF9AE}" pid="3" name="LastSaved">
    <vt:filetime>2020-12-17T00:00:00Z</vt:filetime>
  </property>
  <property fmtid="{D5CDD505-2E9C-101B-9397-08002B2CF9AE}" pid="4" name="NXPowerLiteLastOptimized">
    <vt:lpwstr>53052837</vt:lpwstr>
  </property>
  <property fmtid="{D5CDD505-2E9C-101B-9397-08002B2CF9AE}" pid="5" name="NXPowerLiteSettings">
    <vt:lpwstr>C700052003A000</vt:lpwstr>
  </property>
  <property fmtid="{D5CDD505-2E9C-101B-9397-08002B2CF9AE}" pid="6" name="NXPowerLiteVersion">
    <vt:lpwstr>D8.0.8</vt:lpwstr>
  </property>
</Properties>
</file>